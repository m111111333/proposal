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1" r:id="rId2"/>
    <p:sldId id="260" r:id="rId3"/>
    <p:sldId id="262" r:id="rId4"/>
  </p:sldIdLst>
  <p:sldSz cx="1325880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FAC657"/>
    <a:srgbClr val="009479"/>
    <a:srgbClr val="2497A6"/>
    <a:srgbClr val="FF639A"/>
    <a:srgbClr val="FA3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1CD4-2C80-4466-8E1E-9E5422ECFAC0}" v="314" dt="2026-03-04T10:18:04.952"/>
    <p1510:client id="{B9D7B8BF-8625-449E-AD75-99FDECCB3957}" v="706" dt="2026-03-04T11:38:26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7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410" y="2394374"/>
            <a:ext cx="11269980" cy="5093547"/>
          </a:xfrm>
        </p:spPr>
        <p:txBody>
          <a:bodyPr anchor="b"/>
          <a:lstStyle>
            <a:lvl1pPr algn="ctr">
              <a:defRPr sz="543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50" y="7684348"/>
            <a:ext cx="9944100" cy="3532292"/>
          </a:xfrm>
        </p:spPr>
        <p:txBody>
          <a:bodyPr/>
          <a:lstStyle>
            <a:lvl1pPr marL="0" indent="0" algn="ctr">
              <a:buNone/>
              <a:defRPr sz="2175"/>
            </a:lvl1pPr>
            <a:lvl2pPr marL="414360" indent="0" algn="ctr">
              <a:buNone/>
              <a:defRPr sz="1813"/>
            </a:lvl2pPr>
            <a:lvl3pPr marL="828721" indent="0" algn="ctr">
              <a:buNone/>
              <a:defRPr sz="1631"/>
            </a:lvl3pPr>
            <a:lvl4pPr marL="1243081" indent="0" algn="ctr">
              <a:buNone/>
              <a:defRPr sz="1450"/>
            </a:lvl4pPr>
            <a:lvl5pPr marL="1657441" indent="0" algn="ctr">
              <a:buNone/>
              <a:defRPr sz="1450"/>
            </a:lvl5pPr>
            <a:lvl6pPr marL="2071802" indent="0" algn="ctr">
              <a:buNone/>
              <a:defRPr sz="1450"/>
            </a:lvl6pPr>
            <a:lvl7pPr marL="2486162" indent="0" algn="ctr">
              <a:buNone/>
              <a:defRPr sz="1450"/>
            </a:lvl7pPr>
            <a:lvl8pPr marL="2900523" indent="0" algn="ctr">
              <a:buNone/>
              <a:defRPr sz="1450"/>
            </a:lvl8pPr>
            <a:lvl9pPr marL="3314883" indent="0" algn="ctr">
              <a:buNone/>
              <a:defRPr sz="145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9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4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638" y="3647444"/>
            <a:ext cx="11435715" cy="6085839"/>
          </a:xfrm>
        </p:spPr>
        <p:txBody>
          <a:bodyPr anchor="b"/>
          <a:lstStyle>
            <a:lvl1pPr>
              <a:defRPr sz="543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638" y="9790858"/>
            <a:ext cx="11435715" cy="3200399"/>
          </a:xfrm>
        </p:spPr>
        <p:txBody>
          <a:bodyPr/>
          <a:lstStyle>
            <a:lvl1pPr marL="0" indent="0">
              <a:buNone/>
              <a:defRPr sz="2175">
                <a:solidFill>
                  <a:schemeClr val="tx1"/>
                </a:solidFill>
              </a:defRPr>
            </a:lvl1pPr>
            <a:lvl2pPr marL="414360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2pPr>
            <a:lvl3pPr marL="828721" indent="0">
              <a:buNone/>
              <a:defRPr sz="1631">
                <a:solidFill>
                  <a:schemeClr val="tx1">
                    <a:tint val="75000"/>
                  </a:schemeClr>
                </a:solidFill>
              </a:defRPr>
            </a:lvl3pPr>
            <a:lvl4pPr marL="1243081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4pPr>
            <a:lvl5pPr marL="1657441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5pPr>
            <a:lvl6pPr marL="2071802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6pPr>
            <a:lvl7pPr marL="2486162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7pPr>
            <a:lvl8pPr marL="2900523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8pPr>
            <a:lvl9pPr marL="3314883" indent="0">
              <a:buNone/>
              <a:defRPr sz="14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6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1543" y="3894667"/>
            <a:ext cx="563499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2268" y="3894667"/>
            <a:ext cx="563499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269" y="778936"/>
            <a:ext cx="11435715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271" y="3586481"/>
            <a:ext cx="5609093" cy="1757679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14360" indent="0">
              <a:buNone/>
              <a:defRPr sz="1813" b="1"/>
            </a:lvl2pPr>
            <a:lvl3pPr marL="828721" indent="0">
              <a:buNone/>
              <a:defRPr sz="1631" b="1"/>
            </a:lvl3pPr>
            <a:lvl4pPr marL="1243081" indent="0">
              <a:buNone/>
              <a:defRPr sz="1450" b="1"/>
            </a:lvl4pPr>
            <a:lvl5pPr marL="1657441" indent="0">
              <a:buNone/>
              <a:defRPr sz="1450" b="1"/>
            </a:lvl5pPr>
            <a:lvl6pPr marL="2071802" indent="0">
              <a:buNone/>
              <a:defRPr sz="1450" b="1"/>
            </a:lvl6pPr>
            <a:lvl7pPr marL="2486162" indent="0">
              <a:buNone/>
              <a:defRPr sz="1450" b="1"/>
            </a:lvl7pPr>
            <a:lvl8pPr marL="2900523" indent="0">
              <a:buNone/>
              <a:defRPr sz="1450" b="1"/>
            </a:lvl8pPr>
            <a:lvl9pPr marL="3314883" indent="0">
              <a:buNone/>
              <a:defRPr sz="14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271" y="5344160"/>
            <a:ext cx="5609093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2268" y="3586481"/>
            <a:ext cx="5636717" cy="1757679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14360" indent="0">
              <a:buNone/>
              <a:defRPr sz="1813" b="1"/>
            </a:lvl2pPr>
            <a:lvl3pPr marL="828721" indent="0">
              <a:buNone/>
              <a:defRPr sz="1631" b="1"/>
            </a:lvl3pPr>
            <a:lvl4pPr marL="1243081" indent="0">
              <a:buNone/>
              <a:defRPr sz="1450" b="1"/>
            </a:lvl4pPr>
            <a:lvl5pPr marL="1657441" indent="0">
              <a:buNone/>
              <a:defRPr sz="1450" b="1"/>
            </a:lvl5pPr>
            <a:lvl6pPr marL="2071802" indent="0">
              <a:buNone/>
              <a:defRPr sz="1450" b="1"/>
            </a:lvl6pPr>
            <a:lvl7pPr marL="2486162" indent="0">
              <a:buNone/>
              <a:defRPr sz="1450" b="1"/>
            </a:lvl7pPr>
            <a:lvl8pPr marL="2900523" indent="0">
              <a:buNone/>
              <a:defRPr sz="1450" b="1"/>
            </a:lvl8pPr>
            <a:lvl9pPr marL="3314883" indent="0">
              <a:buNone/>
              <a:defRPr sz="14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2268" y="5344160"/>
            <a:ext cx="5636717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9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0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0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270" y="975360"/>
            <a:ext cx="4276308" cy="3413760"/>
          </a:xfrm>
        </p:spPr>
        <p:txBody>
          <a:bodyPr anchor="b"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6717" y="2106510"/>
            <a:ext cx="6712268" cy="10397067"/>
          </a:xfrm>
        </p:spPr>
        <p:txBody>
          <a:bodyPr/>
          <a:lstStyle>
            <a:lvl1pPr>
              <a:defRPr sz="2900"/>
            </a:lvl1pPr>
            <a:lvl2pPr>
              <a:defRPr sz="2538"/>
            </a:lvl2pPr>
            <a:lvl3pPr>
              <a:defRPr sz="2175"/>
            </a:lvl3pPr>
            <a:lvl4pPr>
              <a:defRPr sz="1813"/>
            </a:lvl4pPr>
            <a:lvl5pPr>
              <a:defRPr sz="1813"/>
            </a:lvl5pPr>
            <a:lvl6pPr>
              <a:defRPr sz="1813"/>
            </a:lvl6pPr>
            <a:lvl7pPr>
              <a:defRPr sz="1813"/>
            </a:lvl7pPr>
            <a:lvl8pPr>
              <a:defRPr sz="1813"/>
            </a:lvl8pPr>
            <a:lvl9pPr>
              <a:defRPr sz="18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270" y="4389120"/>
            <a:ext cx="4276308" cy="8131388"/>
          </a:xfrm>
        </p:spPr>
        <p:txBody>
          <a:bodyPr/>
          <a:lstStyle>
            <a:lvl1pPr marL="0" indent="0">
              <a:buNone/>
              <a:defRPr sz="1450"/>
            </a:lvl1pPr>
            <a:lvl2pPr marL="414360" indent="0">
              <a:buNone/>
              <a:defRPr sz="1269"/>
            </a:lvl2pPr>
            <a:lvl3pPr marL="828721" indent="0">
              <a:buNone/>
              <a:defRPr sz="1088"/>
            </a:lvl3pPr>
            <a:lvl4pPr marL="1243081" indent="0">
              <a:buNone/>
              <a:defRPr sz="906"/>
            </a:lvl4pPr>
            <a:lvl5pPr marL="1657441" indent="0">
              <a:buNone/>
              <a:defRPr sz="906"/>
            </a:lvl5pPr>
            <a:lvl6pPr marL="2071802" indent="0">
              <a:buNone/>
              <a:defRPr sz="906"/>
            </a:lvl6pPr>
            <a:lvl7pPr marL="2486162" indent="0">
              <a:buNone/>
              <a:defRPr sz="906"/>
            </a:lvl7pPr>
            <a:lvl8pPr marL="2900523" indent="0">
              <a:buNone/>
              <a:defRPr sz="906"/>
            </a:lvl8pPr>
            <a:lvl9pPr marL="3314883" indent="0">
              <a:buNone/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0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270" y="975360"/>
            <a:ext cx="4276308" cy="3413760"/>
          </a:xfrm>
        </p:spPr>
        <p:txBody>
          <a:bodyPr anchor="b"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36717" y="2106510"/>
            <a:ext cx="6712268" cy="10397067"/>
          </a:xfrm>
        </p:spPr>
        <p:txBody>
          <a:bodyPr anchor="t"/>
          <a:lstStyle>
            <a:lvl1pPr marL="0" indent="0">
              <a:buNone/>
              <a:defRPr sz="2900"/>
            </a:lvl1pPr>
            <a:lvl2pPr marL="414360" indent="0">
              <a:buNone/>
              <a:defRPr sz="2538"/>
            </a:lvl2pPr>
            <a:lvl3pPr marL="828721" indent="0">
              <a:buNone/>
              <a:defRPr sz="2175"/>
            </a:lvl3pPr>
            <a:lvl4pPr marL="1243081" indent="0">
              <a:buNone/>
              <a:defRPr sz="1813"/>
            </a:lvl4pPr>
            <a:lvl5pPr marL="1657441" indent="0">
              <a:buNone/>
              <a:defRPr sz="1813"/>
            </a:lvl5pPr>
            <a:lvl6pPr marL="2071802" indent="0">
              <a:buNone/>
              <a:defRPr sz="1813"/>
            </a:lvl6pPr>
            <a:lvl7pPr marL="2486162" indent="0">
              <a:buNone/>
              <a:defRPr sz="1813"/>
            </a:lvl7pPr>
            <a:lvl8pPr marL="2900523" indent="0">
              <a:buNone/>
              <a:defRPr sz="1813"/>
            </a:lvl8pPr>
            <a:lvl9pPr marL="3314883" indent="0">
              <a:buNone/>
              <a:defRPr sz="181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270" y="4389120"/>
            <a:ext cx="4276308" cy="8131388"/>
          </a:xfrm>
        </p:spPr>
        <p:txBody>
          <a:bodyPr/>
          <a:lstStyle>
            <a:lvl1pPr marL="0" indent="0">
              <a:buNone/>
              <a:defRPr sz="1450"/>
            </a:lvl1pPr>
            <a:lvl2pPr marL="414360" indent="0">
              <a:buNone/>
              <a:defRPr sz="1269"/>
            </a:lvl2pPr>
            <a:lvl3pPr marL="828721" indent="0">
              <a:buNone/>
              <a:defRPr sz="1088"/>
            </a:lvl3pPr>
            <a:lvl4pPr marL="1243081" indent="0">
              <a:buNone/>
              <a:defRPr sz="906"/>
            </a:lvl4pPr>
            <a:lvl5pPr marL="1657441" indent="0">
              <a:buNone/>
              <a:defRPr sz="906"/>
            </a:lvl5pPr>
            <a:lvl6pPr marL="2071802" indent="0">
              <a:buNone/>
              <a:defRPr sz="906"/>
            </a:lvl6pPr>
            <a:lvl7pPr marL="2486162" indent="0">
              <a:buNone/>
              <a:defRPr sz="906"/>
            </a:lvl7pPr>
            <a:lvl8pPr marL="2900523" indent="0">
              <a:buNone/>
              <a:defRPr sz="906"/>
            </a:lvl8pPr>
            <a:lvl9pPr marL="3314883" indent="0">
              <a:buNone/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9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1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88329" y="778933"/>
            <a:ext cx="2858929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1543" y="778933"/>
            <a:ext cx="8411051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5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1543" y="778936"/>
            <a:ext cx="11435715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1543" y="3894667"/>
            <a:ext cx="11435715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1543" y="13560217"/>
            <a:ext cx="298323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1978" y="13560217"/>
            <a:ext cx="4474845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4028" y="13560217"/>
            <a:ext cx="298323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5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0CD2-22CD-2AC7-1783-8149A516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矢印: 五方向 2">
            <a:extLst>
              <a:ext uri="{FF2B5EF4-FFF2-40B4-BE49-F238E27FC236}">
                <a16:creationId xmlns:a16="http://schemas.microsoft.com/office/drawing/2014/main" id="{D151C8DD-60FD-9FE2-A0CC-2767067BD48D}"/>
              </a:ext>
            </a:extLst>
          </p:cNvPr>
          <p:cNvSpPr/>
          <p:nvPr/>
        </p:nvSpPr>
        <p:spPr>
          <a:xfrm>
            <a:off x="-5469" y="691526"/>
            <a:ext cx="7736457" cy="849466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 b="1" dirty="0">
                <a:ea typeface="游ゴシック"/>
                <a:cs typeface="Calibri" panose="020F0502020204030204"/>
              </a:rPr>
              <a:t>コンセプト＆ターゲット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166A6B8-FA36-5FAF-AA3C-AD5F9157D2B6}"/>
              </a:ext>
            </a:extLst>
          </p:cNvPr>
          <p:cNvSpPr/>
          <p:nvPr/>
        </p:nvSpPr>
        <p:spPr>
          <a:xfrm>
            <a:off x="-74" y="-8269"/>
            <a:ext cx="13257554" cy="53858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56A046-868C-22AD-E630-2B9817516439}"/>
              </a:ext>
            </a:extLst>
          </p:cNvPr>
          <p:cNvSpPr txBox="1"/>
          <p:nvPr/>
        </p:nvSpPr>
        <p:spPr>
          <a:xfrm>
            <a:off x="125631" y="1788072"/>
            <a:ext cx="53623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メインターゲット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64D52D-E51E-EE1C-719E-ABB97B61463A}"/>
              </a:ext>
            </a:extLst>
          </p:cNvPr>
          <p:cNvSpPr txBox="1"/>
          <p:nvPr/>
        </p:nvSpPr>
        <p:spPr>
          <a:xfrm>
            <a:off x="494560" y="2493260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20～35歳　男性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B24CBD-897A-6953-8461-F18EE2529119}"/>
              </a:ext>
            </a:extLst>
          </p:cNvPr>
          <p:cNvSpPr txBox="1"/>
          <p:nvPr/>
        </p:nvSpPr>
        <p:spPr>
          <a:xfrm>
            <a:off x="494243" y="2896857"/>
            <a:ext cx="62726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サバイバル、クラフト　系が好き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46F85F-DF1C-7E35-706F-965CF2C3B4BF}"/>
              </a:ext>
            </a:extLst>
          </p:cNvPr>
          <p:cNvSpPr txBox="1"/>
          <p:nvPr/>
        </p:nvSpPr>
        <p:spPr>
          <a:xfrm>
            <a:off x="494243" y="3300454"/>
            <a:ext cx="59866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成長実感があるゲームを好む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8488AF0-91E2-47EB-F629-514A679708CD}"/>
              </a:ext>
            </a:extLst>
          </p:cNvPr>
          <p:cNvSpPr txBox="1"/>
          <p:nvPr/>
        </p:nvSpPr>
        <p:spPr>
          <a:xfrm>
            <a:off x="494177" y="3704051"/>
            <a:ext cx="59866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短時間で進歩を感じたい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D45829-AF2C-182C-EC67-8AF7322BDC0E}"/>
              </a:ext>
            </a:extLst>
          </p:cNvPr>
          <p:cNvSpPr txBox="1"/>
          <p:nvPr/>
        </p:nvSpPr>
        <p:spPr>
          <a:xfrm>
            <a:off x="125501" y="4226471"/>
            <a:ext cx="53623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サブターゲット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4ED641C-D2BA-91B1-0AED-1FB3EFF830B0}"/>
              </a:ext>
            </a:extLst>
          </p:cNvPr>
          <p:cNvSpPr txBox="1"/>
          <p:nvPr/>
        </p:nvSpPr>
        <p:spPr>
          <a:xfrm>
            <a:off x="123046" y="5394875"/>
            <a:ext cx="107705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ea typeface="游ゴシック"/>
                <a:cs typeface="Calibri"/>
              </a:rPr>
              <a:t>＿＿＿＿＿＿＿＿＿＿＿＿＿＿＿＿</a:t>
            </a:r>
            <a:r>
              <a:rPr lang="ja-JP" altLang="en-US" sz="3600" b="1">
                <a:ea typeface="游ゴシック"/>
                <a:cs typeface="Calibri"/>
              </a:rPr>
              <a:t>＿＿＿＿＿＿</a:t>
            </a:r>
            <a:endParaRPr lang="ja-JP" sz="3600">
              <a:ea typeface="游ゴシック"/>
              <a:cs typeface="Calibri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5FA564F-FF7C-AC22-F5C9-025C0BCDDC10}"/>
              </a:ext>
            </a:extLst>
          </p:cNvPr>
          <p:cNvSpPr txBox="1"/>
          <p:nvPr/>
        </p:nvSpPr>
        <p:spPr>
          <a:xfrm>
            <a:off x="393342" y="4951838"/>
            <a:ext cx="732751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時間がなく、放置していても成長するゲームをしたい</a:t>
            </a:r>
            <a:r>
              <a:rPr lang="ja-JP" altLang="en-US" sz="2000" b="1" dirty="0">
                <a:ea typeface="游ゴシック"/>
                <a:cs typeface="Calibri" panose="020F0502020204030204"/>
              </a:rPr>
              <a:t>人</a:t>
            </a:r>
            <a:endParaRPr lang="ja-JP" altLang="en-US" sz="2000" b="1" dirty="0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AF01EC9-D95A-DC88-8960-EB5F4052C35B}"/>
              </a:ext>
            </a:extLst>
          </p:cNvPr>
          <p:cNvSpPr txBox="1"/>
          <p:nvPr/>
        </p:nvSpPr>
        <p:spPr>
          <a:xfrm>
            <a:off x="393028" y="5335255"/>
            <a:ext cx="46237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海賊、船テーマが好き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80749E8F-2AD9-6AFF-0B52-21458AD6CADF}"/>
              </a:ext>
            </a:extLst>
          </p:cNvPr>
          <p:cNvSpPr/>
          <p:nvPr/>
        </p:nvSpPr>
        <p:spPr>
          <a:xfrm>
            <a:off x="-3293" y="6151379"/>
            <a:ext cx="4943514" cy="849466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000" b="1">
                <a:ea typeface="游ゴシック"/>
                <a:cs typeface="Calibri" panose="020F0502020204030204"/>
              </a:rPr>
              <a:t>ターゲットの欲求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44077D6-590C-9D19-C89C-F1309B90213A}"/>
              </a:ext>
            </a:extLst>
          </p:cNvPr>
          <p:cNvSpPr txBox="1"/>
          <p:nvPr/>
        </p:nvSpPr>
        <p:spPr>
          <a:xfrm>
            <a:off x="-127876" y="7178033"/>
            <a:ext cx="68920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・自分の拠点が成長する達成感を得たい</a:t>
            </a:r>
            <a:endParaRPr lang="ja-JP" altLang="en-US" sz="2800" b="1">
              <a:solidFill>
                <a:srgbClr val="002060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248FBC1-2DE4-D4EC-0953-D4280EFCBF1D}"/>
              </a:ext>
            </a:extLst>
          </p:cNvPr>
          <p:cNvSpPr txBox="1"/>
          <p:nvPr/>
        </p:nvSpPr>
        <p:spPr>
          <a:xfrm>
            <a:off x="-128004" y="8355028"/>
            <a:ext cx="73455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・敵から奪って強くなる爽快感を味わいたい</a:t>
            </a:r>
            <a:r>
              <a:rPr lang="ja-JP" altLang="en-US" sz="2000" b="1">
                <a:solidFill>
                  <a:srgbClr val="002060"/>
                </a:solidFill>
                <a:ea typeface="游ゴシック"/>
                <a:cs typeface="Calibri" panose="020F0502020204030204"/>
              </a:rPr>
              <a:t>　</a:t>
            </a:r>
            <a:endParaRPr lang="ja-JP" sz="2000">
              <a:solidFill>
                <a:srgbClr val="002060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7CF24F3-7D3C-764C-5751-F5C7F5EF4E79}"/>
              </a:ext>
            </a:extLst>
          </p:cNvPr>
          <p:cNvSpPr txBox="1"/>
          <p:nvPr/>
        </p:nvSpPr>
        <p:spPr>
          <a:xfrm>
            <a:off x="-106112" y="9666373"/>
            <a:ext cx="61193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・短時間でも進むゲームを遊びたい</a:t>
            </a:r>
            <a:endParaRPr lang="ja-JP" altLang="en-US" sz="2800" b="1">
              <a:solidFill>
                <a:srgbClr val="002060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CC6F549-59D9-0512-BBD5-E1AF23917895}"/>
              </a:ext>
            </a:extLst>
          </p:cNvPr>
          <p:cNvSpPr txBox="1"/>
          <p:nvPr/>
        </p:nvSpPr>
        <p:spPr>
          <a:xfrm>
            <a:off x="375590" y="7703816"/>
            <a:ext cx="561564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3399FF"/>
                </a:solidFill>
                <a:ea typeface="游ゴシック"/>
                <a:cs typeface="Calibri" panose="020F0502020204030204"/>
              </a:rPr>
              <a:t>L  船上生活システムにより拠点成長欲求を充足</a:t>
            </a:r>
            <a:endParaRPr lang="ja-JP" sz="2000" b="1">
              <a:solidFill>
                <a:srgbClr val="3399FF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5199005-FFCA-4F24-AA67-1BAD40948787}"/>
              </a:ext>
            </a:extLst>
          </p:cNvPr>
          <p:cNvSpPr txBox="1"/>
          <p:nvPr/>
        </p:nvSpPr>
        <p:spPr>
          <a:xfrm>
            <a:off x="375517" y="8880164"/>
            <a:ext cx="54980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3399FF"/>
                </a:solidFill>
                <a:ea typeface="游ゴシック"/>
                <a:cs typeface="Calibri" panose="020F0502020204030204"/>
              </a:rPr>
              <a:t>L  敵船奪取ループにより略奪の爽快感を提供</a:t>
            </a:r>
            <a:endParaRPr lang="ja-JP" sz="2000" b="1">
              <a:solidFill>
                <a:srgbClr val="3399FF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A4468E6-02AB-0EED-04EA-6F5F24EE32E1}"/>
              </a:ext>
            </a:extLst>
          </p:cNvPr>
          <p:cNvSpPr txBox="1"/>
          <p:nvPr/>
        </p:nvSpPr>
        <p:spPr>
          <a:xfrm>
            <a:off x="375449" y="10190789"/>
            <a:ext cx="575024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solidFill>
                  <a:srgbClr val="3399FF"/>
                </a:solidFill>
                <a:ea typeface="游ゴシック"/>
                <a:cs typeface="Calibri" panose="020F0502020204030204"/>
              </a:rPr>
              <a:t>L  放置収集要素により短時間プレイヤーにも対応</a:t>
            </a:r>
            <a:endParaRPr lang="ja-JP" sz="2000" b="1">
              <a:solidFill>
                <a:srgbClr val="3399FF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954982A-963C-ECB9-252C-C8945097B9C3}"/>
              </a:ext>
            </a:extLst>
          </p:cNvPr>
          <p:cNvSpPr txBox="1"/>
          <p:nvPr/>
        </p:nvSpPr>
        <p:spPr>
          <a:xfrm>
            <a:off x="122970" y="10190648"/>
            <a:ext cx="107705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ea typeface="游ゴシック"/>
                <a:cs typeface="Calibri"/>
              </a:rPr>
              <a:t>＿＿＿＿＿＿＿＿＿＿＿＿＿＿＿＿</a:t>
            </a:r>
            <a:r>
              <a:rPr lang="ja-JP" altLang="en-US" sz="3600" b="1">
                <a:ea typeface="游ゴシック"/>
                <a:cs typeface="Calibri"/>
              </a:rPr>
              <a:t>＿＿＿＿＿＿</a:t>
            </a:r>
            <a:endParaRPr lang="ja-JP" sz="3600">
              <a:ea typeface="游ゴシック"/>
              <a:cs typeface="Calibri"/>
            </a:endParaRPr>
          </a:p>
        </p:txBody>
      </p:sp>
      <p:pic>
        <p:nvPicPr>
          <p:cNvPr id="2" name="図 1" descr="時計, 座る, 横たわる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D65AE7C1-5DC5-0382-97D1-A806F8381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504" y="6155253"/>
            <a:ext cx="2723623" cy="2723493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6ABC262-E6BF-47AD-0773-CC4AD1AB4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144" y="7466942"/>
            <a:ext cx="2723623" cy="2723494"/>
          </a:xfrm>
          <a:prstGeom prst="rect">
            <a:avLst/>
          </a:prstGeom>
        </p:spPr>
      </p:pic>
      <p:pic>
        <p:nvPicPr>
          <p:cNvPr id="6" name="図 5" descr="ツール, はさみ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F6759567-29B0-19EB-1CF3-3403B031C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80000">
            <a:off x="10091120" y="7931080"/>
            <a:ext cx="2642898" cy="2723492"/>
          </a:xfrm>
          <a:prstGeom prst="rect">
            <a:avLst/>
          </a:prstGeom>
        </p:spPr>
      </p:pic>
      <p:pic>
        <p:nvPicPr>
          <p:cNvPr id="12" name="図 11" descr="ケーキ, 水, ブルー, テーブル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18D40CEB-B5D4-F665-570F-3AC7D3868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530" y="1534621"/>
            <a:ext cx="4405266" cy="4175327"/>
          </a:xfrm>
          <a:prstGeom prst="rect">
            <a:avLst/>
          </a:prstGeom>
        </p:spPr>
      </p:pic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977A3C91-2388-F358-B4E3-7F7AD31D2D90}"/>
              </a:ext>
            </a:extLst>
          </p:cNvPr>
          <p:cNvSpPr/>
          <p:nvPr/>
        </p:nvSpPr>
        <p:spPr>
          <a:xfrm>
            <a:off x="-3910" y="10840028"/>
            <a:ext cx="4797364" cy="923263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000" b="1">
                <a:ea typeface="游ゴシック"/>
                <a:cs typeface="Calibri" panose="020F0502020204030204"/>
              </a:rPr>
              <a:t>課金価値の提供</a:t>
            </a:r>
            <a:endParaRPr lang="ja-JP" altLang="en-US" sz="4000" b="1" dirty="0">
              <a:ea typeface="游ゴシック"/>
              <a:cs typeface="Calibri" panose="020F0502020204030204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E0B61B-ABD4-81CE-E2AE-A17B65B1811F}"/>
              </a:ext>
            </a:extLst>
          </p:cNvPr>
          <p:cNvSpPr txBox="1"/>
          <p:nvPr/>
        </p:nvSpPr>
        <p:spPr>
          <a:xfrm>
            <a:off x="-5209" y="11946697"/>
            <a:ext cx="82988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rgbClr val="FF0000"/>
                </a:solidFill>
                <a:ea typeface="游ゴシック"/>
                <a:cs typeface="Calibri" panose="020F0502020204030204"/>
              </a:rPr>
              <a:t>※　短時間でも進むゲームを遊びたい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DA8B2832-2BA1-80FC-C874-F1A0C2A90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058" y="11218158"/>
            <a:ext cx="2765696" cy="2784566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CF3D13-90C1-7329-CAA5-6698D1F8E0F2}"/>
              </a:ext>
            </a:extLst>
          </p:cNvPr>
          <p:cNvSpPr txBox="1"/>
          <p:nvPr/>
        </p:nvSpPr>
        <p:spPr>
          <a:xfrm>
            <a:off x="8264146" y="1161389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 panose="020B0400000000000000" pitchFamily="34" charset="-128"/>
                <a:cs typeface="Calibri" panose="020F0502020204030204"/>
              </a:rPr>
              <a:t>イメージ画像</a:t>
            </a:r>
            <a:endParaRPr lang="ja-JP" altLang="en-US" sz="2000" b="1" dirty="0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082250-785B-8F1C-4439-1C605DC50E37}"/>
              </a:ext>
            </a:extLst>
          </p:cNvPr>
          <p:cNvSpPr txBox="1"/>
          <p:nvPr/>
        </p:nvSpPr>
        <p:spPr>
          <a:xfrm>
            <a:off x="128334" y="12615590"/>
            <a:ext cx="107639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 dirty="0">
                <a:ea typeface="游ゴシック"/>
                <a:cs typeface="Calibri"/>
              </a:rPr>
              <a:t>ユーザーA :　</a:t>
            </a:r>
            <a:r>
              <a:rPr lang="ja-JP" altLang="en-US" sz="2400" b="1" dirty="0">
                <a:ea typeface="游ゴシック"/>
                <a:cs typeface="Calibri"/>
              </a:rPr>
              <a:t>「遊ぶ時間は少ない。でも早く強くなりたい.....泣」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35AC55-126E-7E1B-05F4-28A23129BEF9}"/>
              </a:ext>
            </a:extLst>
          </p:cNvPr>
          <p:cNvSpPr txBox="1"/>
          <p:nvPr/>
        </p:nvSpPr>
        <p:spPr>
          <a:xfrm>
            <a:off x="128465" y="13169072"/>
            <a:ext cx="96759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dirty="0">
                <a:ea typeface="游ゴシック"/>
                <a:cs typeface="Calibri"/>
              </a:rPr>
              <a:t>課金</a:t>
            </a:r>
            <a:r>
              <a:rPr lang="ja-JP" altLang="en-US" sz="3200" b="1" dirty="0">
                <a:ea typeface="游ゴシック"/>
                <a:cs typeface="Calibri"/>
              </a:rPr>
              <a:t>　＝　</a:t>
            </a:r>
            <a:r>
              <a:rPr lang="ja-JP" altLang="en-US" sz="4000" b="1" dirty="0">
                <a:ea typeface="游ゴシック"/>
                <a:cs typeface="Calibri"/>
              </a:rPr>
              <a:t>ゲームの</a:t>
            </a:r>
            <a:r>
              <a:rPr lang="en-US" altLang="ja-JP" sz="4000" b="1" dirty="0">
                <a:ea typeface="游ゴシック"/>
                <a:cs typeface="Calibri"/>
              </a:rPr>
              <a:t>"</a:t>
            </a:r>
            <a:r>
              <a:rPr lang="ja-JP" altLang="en-US" sz="4000" b="1" dirty="0">
                <a:solidFill>
                  <a:srgbClr val="FF0000"/>
                </a:solidFill>
                <a:ea typeface="游ゴシック"/>
                <a:cs typeface="Calibri"/>
              </a:rPr>
              <a:t>放置効率ブースト</a:t>
            </a:r>
            <a:r>
              <a:rPr lang="ja-JP" altLang="en-US" sz="4000" b="1" dirty="0">
                <a:ea typeface="游ゴシック"/>
                <a:cs typeface="Calibri"/>
              </a:rPr>
              <a:t>"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F2CD04A-1EF5-071D-F2A0-04624DA31733}"/>
              </a:ext>
            </a:extLst>
          </p:cNvPr>
          <p:cNvSpPr txBox="1"/>
          <p:nvPr/>
        </p:nvSpPr>
        <p:spPr>
          <a:xfrm>
            <a:off x="121317" y="14003399"/>
            <a:ext cx="46979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b="1">
                <a:ea typeface="游ゴシック"/>
                <a:cs typeface="Calibri"/>
              </a:rPr>
              <a:t>P3　2「成長加速課金」より</a:t>
            </a:r>
            <a:endParaRPr lang="ja-JP" altLang="en-US" b="1">
              <a:ea typeface="游ゴシック" panose="020B0400000000000000" pitchFamily="34" charset="-128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003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640BF-02CD-18B0-F969-E6993A84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プールに浮かんでいる船&#10;&#10;AI 生成コンテンツは間違っている可能性があります。">
            <a:extLst>
              <a:ext uri="{FF2B5EF4-FFF2-40B4-BE49-F238E27FC236}">
                <a16:creationId xmlns:a16="http://schemas.microsoft.com/office/drawing/2014/main" id="{B7929AD9-7113-CFC6-7813-15524215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99" y="8891943"/>
            <a:ext cx="5335368" cy="4792219"/>
          </a:xfrm>
          <a:prstGeom prst="rect">
            <a:avLst/>
          </a:prstGeom>
        </p:spPr>
      </p:pic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9AA40E34-53CB-EBD8-3753-D27BE330DB2F}"/>
              </a:ext>
            </a:extLst>
          </p:cNvPr>
          <p:cNvSpPr/>
          <p:nvPr/>
        </p:nvSpPr>
        <p:spPr>
          <a:xfrm>
            <a:off x="2665" y="599512"/>
            <a:ext cx="8962497" cy="1015093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5400" b="1">
                <a:ea typeface="游ゴシック"/>
                <a:cs typeface="Calibri"/>
              </a:rPr>
              <a:t>アプリケーション企画概要</a:t>
            </a:r>
            <a:endParaRPr lang="ja-JP" altLang="en-US" sz="5400">
              <a:cs typeface="Calibri" panose="020F0502020204030204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3332FA-552D-5DAE-DAB3-2F6064C00DD1}"/>
              </a:ext>
            </a:extLst>
          </p:cNvPr>
          <p:cNvSpPr txBox="1"/>
          <p:nvPr/>
        </p:nvSpPr>
        <p:spPr>
          <a:xfrm>
            <a:off x="77888" y="1822341"/>
            <a:ext cx="990505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800" b="1">
                <a:solidFill>
                  <a:srgbClr val="002060"/>
                </a:solidFill>
                <a:ea typeface="游ゴシック"/>
                <a:cs typeface="Calibri" panose="020F0502020204030204"/>
              </a:rPr>
              <a:t>タイトル</a:t>
            </a:r>
            <a:r>
              <a:rPr lang="ja-JP" altLang="en-US" sz="4800" b="1" dirty="0">
                <a:solidFill>
                  <a:srgbClr val="002060"/>
                </a:solidFill>
                <a:ea typeface="游ゴシック"/>
                <a:cs typeface="Calibri" panose="020F0502020204030204"/>
              </a:rPr>
              <a:t>　</a:t>
            </a:r>
            <a:r>
              <a:rPr lang="ja-JP" altLang="en-US" sz="48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漂流拠点サバイバル</a:t>
            </a:r>
            <a:endParaRPr lang="ja-JP" altLang="en-US" sz="4800" b="1" u="sng" dirty="0">
              <a:solidFill>
                <a:srgbClr val="002060"/>
              </a:solidFill>
              <a:ea typeface="游ゴシック"/>
              <a:cs typeface="Calibri" panose="020F0502020204030204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3BF028A-621D-5581-8BD4-9E0ED494EAE8}"/>
              </a:ext>
            </a:extLst>
          </p:cNvPr>
          <p:cNvSpPr/>
          <p:nvPr/>
        </p:nvSpPr>
        <p:spPr>
          <a:xfrm>
            <a:off x="9162" y="-8269"/>
            <a:ext cx="13222402" cy="44132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8A8114C-2580-8A00-30AF-87CD001F76EA}"/>
              </a:ext>
            </a:extLst>
          </p:cNvPr>
          <p:cNvSpPr txBox="1"/>
          <p:nvPr/>
        </p:nvSpPr>
        <p:spPr>
          <a:xfrm>
            <a:off x="483643" y="2645243"/>
            <a:ext cx="71138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solidFill>
                  <a:srgbClr val="002060"/>
                </a:solidFill>
                <a:ea typeface="游ゴシック"/>
                <a:cs typeface="Calibri" panose="020F0502020204030204"/>
              </a:rPr>
              <a:t>船上で生活しながら敵船を奪い、成長するサバイバルゲーム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13B266AD-04D8-9AB4-741D-C9925C42ACC9}"/>
              </a:ext>
            </a:extLst>
          </p:cNvPr>
          <p:cNvSpPr/>
          <p:nvPr/>
        </p:nvSpPr>
        <p:spPr>
          <a:xfrm>
            <a:off x="222397" y="3308497"/>
            <a:ext cx="3277393" cy="611258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 b="1">
                <a:ea typeface="游ゴシック"/>
                <a:cs typeface="Calibri" panose="020F0502020204030204"/>
              </a:rPr>
              <a:t>ゲームコンセプト</a:t>
            </a:r>
            <a:endParaRPr lang="ja-JP" altLang="en-US" sz="3200" b="1">
              <a:ea typeface="游ゴシック"/>
              <a:cs typeface="Calibri" panose="020F0502020204030204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1A4B470-11FB-CA5C-8843-D5F19D94732F}"/>
              </a:ext>
            </a:extLst>
          </p:cNvPr>
          <p:cNvSpPr txBox="1"/>
          <p:nvPr/>
        </p:nvSpPr>
        <p:spPr>
          <a:xfrm>
            <a:off x="167375" y="8179892"/>
            <a:ext cx="132381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solidFill>
                  <a:schemeClr val="accent4">
                    <a:lumMod val="49000"/>
                  </a:schemeClr>
                </a:solidFill>
                <a:ea typeface="游ゴシック"/>
                <a:cs typeface="Calibri"/>
              </a:rPr>
              <a:t>＿＿＿＿＿＿＿＿＿＿＿＿＿＿＿＿</a:t>
            </a:r>
            <a:r>
              <a:rPr lang="ja-JP" altLang="en-US" sz="3600" b="1">
                <a:solidFill>
                  <a:schemeClr val="accent4">
                    <a:lumMod val="49000"/>
                  </a:schemeClr>
                </a:solidFill>
                <a:ea typeface="游ゴシック"/>
                <a:cs typeface="Calibri"/>
              </a:rPr>
              <a:t>＿＿＿＿＿＿＿＿＿＿＿＿</a:t>
            </a:r>
            <a:endParaRPr lang="ja-JP" sz="3600">
              <a:solidFill>
                <a:schemeClr val="accent4">
                  <a:lumMod val="49000"/>
                </a:schemeClr>
              </a:solidFill>
              <a:ea typeface="游ゴシック"/>
              <a:cs typeface="Calibri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F8BB303-6483-1523-9F58-8651AB3F3665}"/>
              </a:ext>
            </a:extLst>
          </p:cNvPr>
          <p:cNvSpPr/>
          <p:nvPr/>
        </p:nvSpPr>
        <p:spPr>
          <a:xfrm>
            <a:off x="225874" y="7018997"/>
            <a:ext cx="3800276" cy="6631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88631480">
                  <a:custGeom>
                    <a:avLst/>
                    <a:gdLst>
                      <a:gd name="csX0" fmla="*/ 0 w 3045263"/>
                      <a:gd name="csY0" fmla="*/ 0 h 607949"/>
                      <a:gd name="csX1" fmla="*/ 548147 w 3045263"/>
                      <a:gd name="csY1" fmla="*/ 0 h 607949"/>
                      <a:gd name="csX2" fmla="*/ 1126747 w 3045263"/>
                      <a:gd name="csY2" fmla="*/ 0 h 607949"/>
                      <a:gd name="csX3" fmla="*/ 1644442 w 3045263"/>
                      <a:gd name="csY3" fmla="*/ 0 h 607949"/>
                      <a:gd name="csX4" fmla="*/ 2253495 w 3045263"/>
                      <a:gd name="csY4" fmla="*/ 0 h 607949"/>
                      <a:gd name="csX5" fmla="*/ 3045263 w 3045263"/>
                      <a:gd name="csY5" fmla="*/ 0 h 607949"/>
                      <a:gd name="csX6" fmla="*/ 3045263 w 3045263"/>
                      <a:gd name="csY6" fmla="*/ 607949 h 607949"/>
                      <a:gd name="csX7" fmla="*/ 2436210 w 3045263"/>
                      <a:gd name="csY7" fmla="*/ 607949 h 607949"/>
                      <a:gd name="csX8" fmla="*/ 1888063 w 3045263"/>
                      <a:gd name="csY8" fmla="*/ 607949 h 607949"/>
                      <a:gd name="csX9" fmla="*/ 1309463 w 3045263"/>
                      <a:gd name="csY9" fmla="*/ 607949 h 607949"/>
                      <a:gd name="csX10" fmla="*/ 700410 w 3045263"/>
                      <a:gd name="csY10" fmla="*/ 607949 h 607949"/>
                      <a:gd name="csX11" fmla="*/ 0 w 3045263"/>
                      <a:gd name="csY11" fmla="*/ 607949 h 607949"/>
                      <a:gd name="csX12" fmla="*/ 0 w 3045263"/>
                      <a:gd name="csY12" fmla="*/ 0 h 6079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3045263" h="607949" fill="none" extrusionOk="0">
                        <a:moveTo>
                          <a:pt x="0" y="0"/>
                        </a:moveTo>
                        <a:cubicBezTo>
                          <a:pt x="205379" y="-26474"/>
                          <a:pt x="365085" y="3856"/>
                          <a:pt x="548147" y="0"/>
                        </a:cubicBezTo>
                        <a:cubicBezTo>
                          <a:pt x="731209" y="-3856"/>
                          <a:pt x="905513" y="22663"/>
                          <a:pt x="1126747" y="0"/>
                        </a:cubicBezTo>
                        <a:cubicBezTo>
                          <a:pt x="1347981" y="-22663"/>
                          <a:pt x="1458543" y="-466"/>
                          <a:pt x="1644442" y="0"/>
                        </a:cubicBezTo>
                        <a:cubicBezTo>
                          <a:pt x="1830342" y="466"/>
                          <a:pt x="1953350" y="8612"/>
                          <a:pt x="2253495" y="0"/>
                        </a:cubicBezTo>
                        <a:cubicBezTo>
                          <a:pt x="2553640" y="-8612"/>
                          <a:pt x="2808933" y="6875"/>
                          <a:pt x="3045263" y="0"/>
                        </a:cubicBezTo>
                        <a:cubicBezTo>
                          <a:pt x="3040570" y="176651"/>
                          <a:pt x="3053704" y="478676"/>
                          <a:pt x="3045263" y="607949"/>
                        </a:cubicBezTo>
                        <a:cubicBezTo>
                          <a:pt x="2817459" y="583329"/>
                          <a:pt x="2605244" y="597088"/>
                          <a:pt x="2436210" y="607949"/>
                        </a:cubicBezTo>
                        <a:cubicBezTo>
                          <a:pt x="2267176" y="618810"/>
                          <a:pt x="2113430" y="615067"/>
                          <a:pt x="1888063" y="607949"/>
                        </a:cubicBezTo>
                        <a:cubicBezTo>
                          <a:pt x="1662696" y="600831"/>
                          <a:pt x="1561833" y="601295"/>
                          <a:pt x="1309463" y="607949"/>
                        </a:cubicBezTo>
                        <a:cubicBezTo>
                          <a:pt x="1057093" y="614603"/>
                          <a:pt x="853282" y="598027"/>
                          <a:pt x="700410" y="607949"/>
                        </a:cubicBezTo>
                        <a:cubicBezTo>
                          <a:pt x="547538" y="617871"/>
                          <a:pt x="290969" y="589655"/>
                          <a:pt x="0" y="607949"/>
                        </a:cubicBezTo>
                        <a:cubicBezTo>
                          <a:pt x="-28705" y="370220"/>
                          <a:pt x="-20502" y="282808"/>
                          <a:pt x="0" y="0"/>
                        </a:cubicBezTo>
                        <a:close/>
                      </a:path>
                      <a:path w="3045263" h="607949" stroke="0" extrusionOk="0">
                        <a:moveTo>
                          <a:pt x="0" y="0"/>
                        </a:moveTo>
                        <a:cubicBezTo>
                          <a:pt x="239938" y="-690"/>
                          <a:pt x="416563" y="-7226"/>
                          <a:pt x="669958" y="0"/>
                        </a:cubicBezTo>
                        <a:cubicBezTo>
                          <a:pt x="923353" y="7226"/>
                          <a:pt x="1092518" y="2169"/>
                          <a:pt x="1218105" y="0"/>
                        </a:cubicBezTo>
                        <a:cubicBezTo>
                          <a:pt x="1343692" y="-2169"/>
                          <a:pt x="1562479" y="-3889"/>
                          <a:pt x="1735800" y="0"/>
                        </a:cubicBezTo>
                        <a:cubicBezTo>
                          <a:pt x="1909121" y="3889"/>
                          <a:pt x="2080414" y="13467"/>
                          <a:pt x="2405758" y="0"/>
                        </a:cubicBezTo>
                        <a:cubicBezTo>
                          <a:pt x="2731102" y="-13467"/>
                          <a:pt x="2727185" y="-10393"/>
                          <a:pt x="3045263" y="0"/>
                        </a:cubicBezTo>
                        <a:cubicBezTo>
                          <a:pt x="3029922" y="280442"/>
                          <a:pt x="3051817" y="315434"/>
                          <a:pt x="3045263" y="607949"/>
                        </a:cubicBezTo>
                        <a:cubicBezTo>
                          <a:pt x="2758811" y="639784"/>
                          <a:pt x="2699788" y="603854"/>
                          <a:pt x="2405758" y="607949"/>
                        </a:cubicBezTo>
                        <a:cubicBezTo>
                          <a:pt x="2111728" y="612044"/>
                          <a:pt x="1994660" y="624091"/>
                          <a:pt x="1796705" y="607949"/>
                        </a:cubicBezTo>
                        <a:cubicBezTo>
                          <a:pt x="1598750" y="591807"/>
                          <a:pt x="1477334" y="589276"/>
                          <a:pt x="1218105" y="607949"/>
                        </a:cubicBezTo>
                        <a:cubicBezTo>
                          <a:pt x="958876" y="626622"/>
                          <a:pt x="904221" y="598185"/>
                          <a:pt x="700410" y="607949"/>
                        </a:cubicBezTo>
                        <a:cubicBezTo>
                          <a:pt x="496599" y="617713"/>
                          <a:pt x="302519" y="641599"/>
                          <a:pt x="0" y="607949"/>
                        </a:cubicBezTo>
                        <a:cubicBezTo>
                          <a:pt x="-25589" y="465352"/>
                          <a:pt x="5081" y="2735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ea typeface="游ゴシック"/>
                <a:cs typeface="Calibri"/>
              </a:rPr>
              <a:t>資源を集める</a:t>
            </a:r>
            <a:endParaRPr lang="ja-JP" altLang="en-US" sz="2000" b="1">
              <a:ea typeface="游ゴシック"/>
              <a:cs typeface="Calibri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9CA6325-CA81-0C9A-9A06-51A9ACA243FC}"/>
              </a:ext>
            </a:extLst>
          </p:cNvPr>
          <p:cNvSpPr/>
          <p:nvPr/>
        </p:nvSpPr>
        <p:spPr>
          <a:xfrm>
            <a:off x="4741022" y="7018996"/>
            <a:ext cx="3800276" cy="6631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555127282">
                  <a:custGeom>
                    <a:avLst/>
                    <a:gdLst>
                      <a:gd name="csX0" fmla="*/ 0 w 3045263"/>
                      <a:gd name="csY0" fmla="*/ 0 h 607949"/>
                      <a:gd name="csX1" fmla="*/ 548147 w 3045263"/>
                      <a:gd name="csY1" fmla="*/ 0 h 607949"/>
                      <a:gd name="csX2" fmla="*/ 1126747 w 3045263"/>
                      <a:gd name="csY2" fmla="*/ 0 h 607949"/>
                      <a:gd name="csX3" fmla="*/ 1705347 w 3045263"/>
                      <a:gd name="csY3" fmla="*/ 0 h 607949"/>
                      <a:gd name="csX4" fmla="*/ 2223042 w 3045263"/>
                      <a:gd name="csY4" fmla="*/ 0 h 607949"/>
                      <a:gd name="csX5" fmla="*/ 3045263 w 3045263"/>
                      <a:gd name="csY5" fmla="*/ 0 h 607949"/>
                      <a:gd name="csX6" fmla="*/ 3045263 w 3045263"/>
                      <a:gd name="csY6" fmla="*/ 607949 h 607949"/>
                      <a:gd name="csX7" fmla="*/ 2405758 w 3045263"/>
                      <a:gd name="csY7" fmla="*/ 607949 h 607949"/>
                      <a:gd name="csX8" fmla="*/ 1888063 w 3045263"/>
                      <a:gd name="csY8" fmla="*/ 607949 h 607949"/>
                      <a:gd name="csX9" fmla="*/ 1248558 w 3045263"/>
                      <a:gd name="csY9" fmla="*/ 607949 h 607949"/>
                      <a:gd name="csX10" fmla="*/ 578600 w 3045263"/>
                      <a:gd name="csY10" fmla="*/ 607949 h 607949"/>
                      <a:gd name="csX11" fmla="*/ 0 w 3045263"/>
                      <a:gd name="csY11" fmla="*/ 607949 h 607949"/>
                      <a:gd name="csX12" fmla="*/ 0 w 3045263"/>
                      <a:gd name="csY12" fmla="*/ 0 h 6079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3045263" h="607949" fill="none" extrusionOk="0">
                        <a:moveTo>
                          <a:pt x="0" y="0"/>
                        </a:moveTo>
                        <a:cubicBezTo>
                          <a:pt x="169715" y="-22030"/>
                          <a:pt x="411490" y="8935"/>
                          <a:pt x="548147" y="0"/>
                        </a:cubicBezTo>
                        <a:cubicBezTo>
                          <a:pt x="684804" y="-8935"/>
                          <a:pt x="896748" y="24"/>
                          <a:pt x="1126747" y="0"/>
                        </a:cubicBezTo>
                        <a:cubicBezTo>
                          <a:pt x="1356746" y="-24"/>
                          <a:pt x="1438723" y="7736"/>
                          <a:pt x="1705347" y="0"/>
                        </a:cubicBezTo>
                        <a:cubicBezTo>
                          <a:pt x="1971971" y="-7736"/>
                          <a:pt x="1989423" y="-23544"/>
                          <a:pt x="2223042" y="0"/>
                        </a:cubicBezTo>
                        <a:cubicBezTo>
                          <a:pt x="2456661" y="23544"/>
                          <a:pt x="2669239" y="10412"/>
                          <a:pt x="3045263" y="0"/>
                        </a:cubicBezTo>
                        <a:cubicBezTo>
                          <a:pt x="3064354" y="249328"/>
                          <a:pt x="3034223" y="380535"/>
                          <a:pt x="3045263" y="607949"/>
                        </a:cubicBezTo>
                        <a:cubicBezTo>
                          <a:pt x="2812926" y="635097"/>
                          <a:pt x="2586620" y="619807"/>
                          <a:pt x="2405758" y="607949"/>
                        </a:cubicBezTo>
                        <a:cubicBezTo>
                          <a:pt x="2224896" y="596091"/>
                          <a:pt x="2110789" y="614188"/>
                          <a:pt x="1888063" y="607949"/>
                        </a:cubicBezTo>
                        <a:cubicBezTo>
                          <a:pt x="1665338" y="601710"/>
                          <a:pt x="1432917" y="607497"/>
                          <a:pt x="1248558" y="607949"/>
                        </a:cubicBezTo>
                        <a:cubicBezTo>
                          <a:pt x="1064199" y="608401"/>
                          <a:pt x="808316" y="612612"/>
                          <a:pt x="578600" y="607949"/>
                        </a:cubicBezTo>
                        <a:cubicBezTo>
                          <a:pt x="348884" y="603286"/>
                          <a:pt x="171397" y="627825"/>
                          <a:pt x="0" y="607949"/>
                        </a:cubicBezTo>
                        <a:cubicBezTo>
                          <a:pt x="-17232" y="431271"/>
                          <a:pt x="8057" y="300375"/>
                          <a:pt x="0" y="0"/>
                        </a:cubicBezTo>
                        <a:close/>
                      </a:path>
                      <a:path w="3045263" h="607949" stroke="0" extrusionOk="0">
                        <a:moveTo>
                          <a:pt x="0" y="0"/>
                        </a:moveTo>
                        <a:cubicBezTo>
                          <a:pt x="213380" y="22131"/>
                          <a:pt x="447937" y="-10974"/>
                          <a:pt x="639505" y="0"/>
                        </a:cubicBezTo>
                        <a:cubicBezTo>
                          <a:pt x="831073" y="10974"/>
                          <a:pt x="1064269" y="-26987"/>
                          <a:pt x="1187653" y="0"/>
                        </a:cubicBezTo>
                        <a:cubicBezTo>
                          <a:pt x="1311037" y="26987"/>
                          <a:pt x="1538485" y="6965"/>
                          <a:pt x="1735800" y="0"/>
                        </a:cubicBezTo>
                        <a:cubicBezTo>
                          <a:pt x="1933115" y="-6965"/>
                          <a:pt x="2087082" y="14632"/>
                          <a:pt x="2253495" y="0"/>
                        </a:cubicBezTo>
                        <a:cubicBezTo>
                          <a:pt x="2419908" y="-14632"/>
                          <a:pt x="2738617" y="38059"/>
                          <a:pt x="3045263" y="0"/>
                        </a:cubicBezTo>
                        <a:cubicBezTo>
                          <a:pt x="3042582" y="125418"/>
                          <a:pt x="3046429" y="329226"/>
                          <a:pt x="3045263" y="607949"/>
                        </a:cubicBezTo>
                        <a:cubicBezTo>
                          <a:pt x="2900045" y="597148"/>
                          <a:pt x="2625241" y="620225"/>
                          <a:pt x="2436210" y="607949"/>
                        </a:cubicBezTo>
                        <a:cubicBezTo>
                          <a:pt x="2247179" y="595673"/>
                          <a:pt x="2053396" y="600568"/>
                          <a:pt x="1857610" y="607949"/>
                        </a:cubicBezTo>
                        <a:cubicBezTo>
                          <a:pt x="1661824" y="615330"/>
                          <a:pt x="1575690" y="615060"/>
                          <a:pt x="1339916" y="607949"/>
                        </a:cubicBezTo>
                        <a:cubicBezTo>
                          <a:pt x="1104142" y="600838"/>
                          <a:pt x="948411" y="614901"/>
                          <a:pt x="761316" y="607949"/>
                        </a:cubicBezTo>
                        <a:cubicBezTo>
                          <a:pt x="574221" y="600997"/>
                          <a:pt x="369361" y="596393"/>
                          <a:pt x="0" y="607949"/>
                        </a:cubicBezTo>
                        <a:cubicBezTo>
                          <a:pt x="-15705" y="434570"/>
                          <a:pt x="-25981" y="2336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 b="1">
                <a:ea typeface="游ゴシック"/>
                <a:cs typeface="Calibri"/>
              </a:rPr>
              <a:t>敵船を襲撃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B1A03A4-0BB3-48DA-EA47-3D57CA83600A}"/>
              </a:ext>
            </a:extLst>
          </p:cNvPr>
          <p:cNvSpPr/>
          <p:nvPr/>
        </p:nvSpPr>
        <p:spPr>
          <a:xfrm>
            <a:off x="9259129" y="7018995"/>
            <a:ext cx="3781861" cy="6631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54242495">
                  <a:custGeom>
                    <a:avLst/>
                    <a:gdLst>
                      <a:gd name="csX0" fmla="*/ 0 w 3045263"/>
                      <a:gd name="csY0" fmla="*/ 0 h 607949"/>
                      <a:gd name="csX1" fmla="*/ 639505 w 3045263"/>
                      <a:gd name="csY1" fmla="*/ 0 h 607949"/>
                      <a:gd name="csX2" fmla="*/ 1279010 w 3045263"/>
                      <a:gd name="csY2" fmla="*/ 0 h 607949"/>
                      <a:gd name="csX3" fmla="*/ 1888063 w 3045263"/>
                      <a:gd name="csY3" fmla="*/ 0 h 607949"/>
                      <a:gd name="csX4" fmla="*/ 3045263 w 3045263"/>
                      <a:gd name="csY4" fmla="*/ 0 h 607949"/>
                      <a:gd name="csX5" fmla="*/ 3045263 w 3045263"/>
                      <a:gd name="csY5" fmla="*/ 607949 h 607949"/>
                      <a:gd name="csX6" fmla="*/ 2466663 w 3045263"/>
                      <a:gd name="csY6" fmla="*/ 607949 h 607949"/>
                      <a:gd name="csX7" fmla="*/ 1918516 w 3045263"/>
                      <a:gd name="csY7" fmla="*/ 607949 h 607949"/>
                      <a:gd name="csX8" fmla="*/ 1279010 w 3045263"/>
                      <a:gd name="csY8" fmla="*/ 607949 h 607949"/>
                      <a:gd name="csX9" fmla="*/ 639505 w 3045263"/>
                      <a:gd name="csY9" fmla="*/ 607949 h 607949"/>
                      <a:gd name="csX10" fmla="*/ 0 w 3045263"/>
                      <a:gd name="csY10" fmla="*/ 607949 h 607949"/>
                      <a:gd name="csX11" fmla="*/ 0 w 3045263"/>
                      <a:gd name="csY11" fmla="*/ 0 h 6079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3045263" h="607949" fill="none" extrusionOk="0">
                        <a:moveTo>
                          <a:pt x="0" y="0"/>
                        </a:moveTo>
                        <a:cubicBezTo>
                          <a:pt x="299788" y="-29327"/>
                          <a:pt x="336727" y="-25811"/>
                          <a:pt x="639505" y="0"/>
                        </a:cubicBezTo>
                        <a:cubicBezTo>
                          <a:pt x="942284" y="25811"/>
                          <a:pt x="1034804" y="13905"/>
                          <a:pt x="1279010" y="0"/>
                        </a:cubicBezTo>
                        <a:cubicBezTo>
                          <a:pt x="1523216" y="-13905"/>
                          <a:pt x="1633017" y="30058"/>
                          <a:pt x="1888063" y="0"/>
                        </a:cubicBezTo>
                        <a:cubicBezTo>
                          <a:pt x="2143109" y="-30058"/>
                          <a:pt x="2515769" y="-1485"/>
                          <a:pt x="3045263" y="0"/>
                        </a:cubicBezTo>
                        <a:cubicBezTo>
                          <a:pt x="3042705" y="203687"/>
                          <a:pt x="3026082" y="341571"/>
                          <a:pt x="3045263" y="607949"/>
                        </a:cubicBezTo>
                        <a:cubicBezTo>
                          <a:pt x="2824086" y="584734"/>
                          <a:pt x="2631018" y="634456"/>
                          <a:pt x="2466663" y="607949"/>
                        </a:cubicBezTo>
                        <a:cubicBezTo>
                          <a:pt x="2302308" y="581442"/>
                          <a:pt x="2148696" y="623895"/>
                          <a:pt x="1918516" y="607949"/>
                        </a:cubicBezTo>
                        <a:cubicBezTo>
                          <a:pt x="1688336" y="592003"/>
                          <a:pt x="1557067" y="600723"/>
                          <a:pt x="1279010" y="607949"/>
                        </a:cubicBezTo>
                        <a:cubicBezTo>
                          <a:pt x="1000953" y="615175"/>
                          <a:pt x="876141" y="637348"/>
                          <a:pt x="639505" y="607949"/>
                        </a:cubicBezTo>
                        <a:cubicBezTo>
                          <a:pt x="402870" y="578550"/>
                          <a:pt x="280736" y="595776"/>
                          <a:pt x="0" y="607949"/>
                        </a:cubicBezTo>
                        <a:cubicBezTo>
                          <a:pt x="-15136" y="455735"/>
                          <a:pt x="-4509" y="126231"/>
                          <a:pt x="0" y="0"/>
                        </a:cubicBezTo>
                        <a:close/>
                      </a:path>
                      <a:path w="3045263" h="607949" stroke="0" extrusionOk="0">
                        <a:moveTo>
                          <a:pt x="0" y="0"/>
                        </a:moveTo>
                        <a:cubicBezTo>
                          <a:pt x="182684" y="-554"/>
                          <a:pt x="407562" y="-1265"/>
                          <a:pt x="609053" y="0"/>
                        </a:cubicBezTo>
                        <a:cubicBezTo>
                          <a:pt x="810544" y="1265"/>
                          <a:pt x="1064089" y="-4463"/>
                          <a:pt x="1187653" y="0"/>
                        </a:cubicBezTo>
                        <a:cubicBezTo>
                          <a:pt x="1311217" y="4463"/>
                          <a:pt x="1605328" y="10068"/>
                          <a:pt x="1827158" y="0"/>
                        </a:cubicBezTo>
                        <a:cubicBezTo>
                          <a:pt x="2048989" y="-10068"/>
                          <a:pt x="2236469" y="-10296"/>
                          <a:pt x="2344853" y="0"/>
                        </a:cubicBezTo>
                        <a:cubicBezTo>
                          <a:pt x="2453238" y="10296"/>
                          <a:pt x="2696179" y="-9918"/>
                          <a:pt x="3045263" y="0"/>
                        </a:cubicBezTo>
                        <a:cubicBezTo>
                          <a:pt x="3043795" y="291230"/>
                          <a:pt x="3037653" y="329678"/>
                          <a:pt x="3045263" y="607949"/>
                        </a:cubicBezTo>
                        <a:cubicBezTo>
                          <a:pt x="2803230" y="595363"/>
                          <a:pt x="2730463" y="592274"/>
                          <a:pt x="2527568" y="607949"/>
                        </a:cubicBezTo>
                        <a:cubicBezTo>
                          <a:pt x="2324674" y="623624"/>
                          <a:pt x="2141861" y="590240"/>
                          <a:pt x="1918516" y="607949"/>
                        </a:cubicBezTo>
                        <a:cubicBezTo>
                          <a:pt x="1695171" y="625658"/>
                          <a:pt x="1525263" y="619047"/>
                          <a:pt x="1248558" y="607949"/>
                        </a:cubicBezTo>
                        <a:cubicBezTo>
                          <a:pt x="971853" y="596851"/>
                          <a:pt x="858318" y="629527"/>
                          <a:pt x="639505" y="607949"/>
                        </a:cubicBezTo>
                        <a:cubicBezTo>
                          <a:pt x="420692" y="586371"/>
                          <a:pt x="237893" y="607411"/>
                          <a:pt x="0" y="607949"/>
                        </a:cubicBezTo>
                        <a:cubicBezTo>
                          <a:pt x="-1566" y="334974"/>
                          <a:pt x="-18982" y="2815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 b="1">
                <a:ea typeface="游ゴシック"/>
                <a:cs typeface="Calibri"/>
              </a:rPr>
              <a:t>船強化＆拡張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DD5FDF2-EC57-1E9F-1AFC-39DD306F5931}"/>
              </a:ext>
            </a:extLst>
          </p:cNvPr>
          <p:cNvSpPr txBox="1"/>
          <p:nvPr/>
        </p:nvSpPr>
        <p:spPr>
          <a:xfrm>
            <a:off x="1588596" y="7950659"/>
            <a:ext cx="107742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 b="1" u="sng">
                <a:ea typeface="游ゴシック"/>
                <a:cs typeface="Calibri" panose="020F0502020204030204"/>
              </a:rPr>
              <a:t>船の上で</a:t>
            </a:r>
            <a:r>
              <a:rPr lang="ja-JP" altLang="en-US" sz="3600" b="1" u="sng">
                <a:solidFill>
                  <a:srgbClr val="000000"/>
                </a:solidFill>
                <a:ea typeface="游ゴシック"/>
                <a:cs typeface="Calibri" panose="020F0502020204030204"/>
              </a:rPr>
              <a:t>自給自足</a:t>
            </a:r>
            <a:r>
              <a:rPr lang="ja-JP" altLang="en-US" sz="3600" b="1" u="sng">
                <a:ea typeface="游ゴシック"/>
                <a:cs typeface="Calibri" panose="020F0502020204030204"/>
              </a:rPr>
              <a:t>し敵船を奪って戦利品で船を</a:t>
            </a:r>
            <a:r>
              <a:rPr lang="ja-JP" altLang="en-US" sz="3600" b="1" u="sng">
                <a:solidFill>
                  <a:srgbClr val="000000"/>
                </a:solidFill>
                <a:ea typeface="游ゴシック"/>
                <a:cs typeface="Calibri" panose="020F0502020204030204"/>
              </a:rPr>
              <a:t>強化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C606458-CBD5-992F-87DB-973A0362B500}"/>
              </a:ext>
            </a:extLst>
          </p:cNvPr>
          <p:cNvSpPr txBox="1"/>
          <p:nvPr/>
        </p:nvSpPr>
        <p:spPr>
          <a:xfrm>
            <a:off x="3429273" y="3138623"/>
            <a:ext cx="70922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solidFill>
                  <a:schemeClr val="accent4">
                    <a:lumMod val="49000"/>
                  </a:schemeClr>
                </a:solidFill>
                <a:ea typeface="游ゴシック"/>
                <a:cs typeface="Calibri"/>
              </a:rPr>
              <a:t>＿＿＿＿＿＿＿＿＿＿＿＿＿＿</a:t>
            </a:r>
            <a:endParaRPr lang="ja-JP" altLang="en-US" sz="3600" b="1">
              <a:solidFill>
                <a:schemeClr val="accent4">
                  <a:lumMod val="49000"/>
                </a:schemeClr>
              </a:solidFill>
              <a:ea typeface="游ゴシック"/>
              <a:cs typeface="Calibri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8967F87-1540-7322-3298-47C3E8523F2A}"/>
              </a:ext>
            </a:extLst>
          </p:cNvPr>
          <p:cNvSpPr/>
          <p:nvPr/>
        </p:nvSpPr>
        <p:spPr>
          <a:xfrm>
            <a:off x="7596418" y="8855515"/>
            <a:ext cx="5354656" cy="5522927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2515362606">
                  <a:custGeom>
                    <a:avLst/>
                    <a:gdLst>
                      <a:gd name="csX0" fmla="*/ 0 w 4830753"/>
                      <a:gd name="csY0" fmla="*/ 0 h 3618931"/>
                      <a:gd name="csX1" fmla="*/ 633365 w 4830753"/>
                      <a:gd name="csY1" fmla="*/ 0 h 3618931"/>
                      <a:gd name="csX2" fmla="*/ 1266731 w 4830753"/>
                      <a:gd name="csY2" fmla="*/ 0 h 3618931"/>
                      <a:gd name="csX3" fmla="*/ 1658559 w 4830753"/>
                      <a:gd name="csY3" fmla="*/ 0 h 3618931"/>
                      <a:gd name="csX4" fmla="*/ 2098694 w 4830753"/>
                      <a:gd name="csY4" fmla="*/ 0 h 3618931"/>
                      <a:gd name="csX5" fmla="*/ 2490522 w 4830753"/>
                      <a:gd name="csY5" fmla="*/ 0 h 3618931"/>
                      <a:gd name="csX6" fmla="*/ 3075579 w 4830753"/>
                      <a:gd name="csY6" fmla="*/ 0 h 3618931"/>
                      <a:gd name="csX7" fmla="*/ 3612330 w 4830753"/>
                      <a:gd name="csY7" fmla="*/ 0 h 3618931"/>
                      <a:gd name="csX8" fmla="*/ 4100773 w 4830753"/>
                      <a:gd name="csY8" fmla="*/ 0 h 3618931"/>
                      <a:gd name="csX9" fmla="*/ 4830753 w 4830753"/>
                      <a:gd name="csY9" fmla="*/ 0 h 3618931"/>
                      <a:gd name="csX10" fmla="*/ 4830753 w 4830753"/>
                      <a:gd name="csY10" fmla="*/ 516990 h 3618931"/>
                      <a:gd name="csX11" fmla="*/ 4830753 w 4830753"/>
                      <a:gd name="csY11" fmla="*/ 997791 h 3618931"/>
                      <a:gd name="csX12" fmla="*/ 4830753 w 4830753"/>
                      <a:gd name="csY12" fmla="*/ 1550970 h 3618931"/>
                      <a:gd name="csX13" fmla="*/ 4830753 w 4830753"/>
                      <a:gd name="csY13" fmla="*/ 2140339 h 3618931"/>
                      <a:gd name="csX14" fmla="*/ 4830753 w 4830753"/>
                      <a:gd name="csY14" fmla="*/ 2584951 h 3618931"/>
                      <a:gd name="csX15" fmla="*/ 4830753 w 4830753"/>
                      <a:gd name="csY15" fmla="*/ 3029562 h 3618931"/>
                      <a:gd name="csX16" fmla="*/ 4830753 w 4830753"/>
                      <a:gd name="csY16" fmla="*/ 3618931 h 3618931"/>
                      <a:gd name="csX17" fmla="*/ 4438925 w 4830753"/>
                      <a:gd name="csY17" fmla="*/ 3618931 h 3618931"/>
                      <a:gd name="csX18" fmla="*/ 3853867 w 4830753"/>
                      <a:gd name="csY18" fmla="*/ 3618931 h 3618931"/>
                      <a:gd name="csX19" fmla="*/ 3413732 w 4830753"/>
                      <a:gd name="csY19" fmla="*/ 3618931 h 3618931"/>
                      <a:gd name="csX20" fmla="*/ 2876982 w 4830753"/>
                      <a:gd name="csY20" fmla="*/ 3618931 h 3618931"/>
                      <a:gd name="csX21" fmla="*/ 2291924 w 4830753"/>
                      <a:gd name="csY21" fmla="*/ 3618931 h 3618931"/>
                      <a:gd name="csX22" fmla="*/ 1851789 w 4830753"/>
                      <a:gd name="csY22" fmla="*/ 3618931 h 3618931"/>
                      <a:gd name="csX23" fmla="*/ 1459961 w 4830753"/>
                      <a:gd name="csY23" fmla="*/ 3618931 h 3618931"/>
                      <a:gd name="csX24" fmla="*/ 826596 w 4830753"/>
                      <a:gd name="csY24" fmla="*/ 3618931 h 3618931"/>
                      <a:gd name="csX25" fmla="*/ 0 w 4830753"/>
                      <a:gd name="csY25" fmla="*/ 3618931 h 3618931"/>
                      <a:gd name="csX26" fmla="*/ 0 w 4830753"/>
                      <a:gd name="csY26" fmla="*/ 3101941 h 3618931"/>
                      <a:gd name="csX27" fmla="*/ 0 w 4830753"/>
                      <a:gd name="csY27" fmla="*/ 2657329 h 3618931"/>
                      <a:gd name="csX28" fmla="*/ 0 w 4830753"/>
                      <a:gd name="csY28" fmla="*/ 2212718 h 3618931"/>
                      <a:gd name="csX29" fmla="*/ 0 w 4830753"/>
                      <a:gd name="csY29" fmla="*/ 1623349 h 3618931"/>
                      <a:gd name="csX30" fmla="*/ 0 w 4830753"/>
                      <a:gd name="csY30" fmla="*/ 1106359 h 3618931"/>
                      <a:gd name="csX31" fmla="*/ 0 w 4830753"/>
                      <a:gd name="csY31" fmla="*/ 625558 h 3618931"/>
                      <a:gd name="csX32" fmla="*/ 0 w 4830753"/>
                      <a:gd name="csY32" fmla="*/ 0 h 36189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4830753" h="3618931" extrusionOk="0">
                        <a:moveTo>
                          <a:pt x="0" y="0"/>
                        </a:moveTo>
                        <a:cubicBezTo>
                          <a:pt x="251291" y="-49718"/>
                          <a:pt x="330649" y="29286"/>
                          <a:pt x="633365" y="0"/>
                        </a:cubicBezTo>
                        <a:cubicBezTo>
                          <a:pt x="936082" y="-29286"/>
                          <a:pt x="1002179" y="367"/>
                          <a:pt x="1266731" y="0"/>
                        </a:cubicBezTo>
                        <a:cubicBezTo>
                          <a:pt x="1531283" y="-367"/>
                          <a:pt x="1559425" y="31864"/>
                          <a:pt x="1658559" y="0"/>
                        </a:cubicBezTo>
                        <a:cubicBezTo>
                          <a:pt x="1757693" y="-31864"/>
                          <a:pt x="1956536" y="39306"/>
                          <a:pt x="2098694" y="0"/>
                        </a:cubicBezTo>
                        <a:cubicBezTo>
                          <a:pt x="2240852" y="-39306"/>
                          <a:pt x="2329700" y="7228"/>
                          <a:pt x="2490522" y="0"/>
                        </a:cubicBezTo>
                        <a:cubicBezTo>
                          <a:pt x="2651344" y="-7228"/>
                          <a:pt x="2889659" y="40316"/>
                          <a:pt x="3075579" y="0"/>
                        </a:cubicBezTo>
                        <a:cubicBezTo>
                          <a:pt x="3261499" y="-40316"/>
                          <a:pt x="3355872" y="55202"/>
                          <a:pt x="3612330" y="0"/>
                        </a:cubicBezTo>
                        <a:cubicBezTo>
                          <a:pt x="3868788" y="-55202"/>
                          <a:pt x="3872074" y="48164"/>
                          <a:pt x="4100773" y="0"/>
                        </a:cubicBezTo>
                        <a:cubicBezTo>
                          <a:pt x="4329472" y="-48164"/>
                          <a:pt x="4663044" y="79630"/>
                          <a:pt x="4830753" y="0"/>
                        </a:cubicBezTo>
                        <a:cubicBezTo>
                          <a:pt x="4888326" y="110812"/>
                          <a:pt x="4814087" y="345697"/>
                          <a:pt x="4830753" y="516990"/>
                        </a:cubicBezTo>
                        <a:cubicBezTo>
                          <a:pt x="4847419" y="688283"/>
                          <a:pt x="4785089" y="900387"/>
                          <a:pt x="4830753" y="997791"/>
                        </a:cubicBezTo>
                        <a:cubicBezTo>
                          <a:pt x="4876417" y="1095195"/>
                          <a:pt x="4817222" y="1318275"/>
                          <a:pt x="4830753" y="1550970"/>
                        </a:cubicBezTo>
                        <a:cubicBezTo>
                          <a:pt x="4844284" y="1783665"/>
                          <a:pt x="4800545" y="1891819"/>
                          <a:pt x="4830753" y="2140339"/>
                        </a:cubicBezTo>
                        <a:cubicBezTo>
                          <a:pt x="4860961" y="2388859"/>
                          <a:pt x="4814440" y="2381149"/>
                          <a:pt x="4830753" y="2584951"/>
                        </a:cubicBezTo>
                        <a:cubicBezTo>
                          <a:pt x="4847066" y="2788753"/>
                          <a:pt x="4811717" y="2853101"/>
                          <a:pt x="4830753" y="3029562"/>
                        </a:cubicBezTo>
                        <a:cubicBezTo>
                          <a:pt x="4849789" y="3206023"/>
                          <a:pt x="4815132" y="3469375"/>
                          <a:pt x="4830753" y="3618931"/>
                        </a:cubicBezTo>
                        <a:cubicBezTo>
                          <a:pt x="4723625" y="3629509"/>
                          <a:pt x="4520239" y="3573534"/>
                          <a:pt x="4438925" y="3618931"/>
                        </a:cubicBezTo>
                        <a:cubicBezTo>
                          <a:pt x="4357611" y="3664328"/>
                          <a:pt x="4065538" y="3618343"/>
                          <a:pt x="3853867" y="3618931"/>
                        </a:cubicBezTo>
                        <a:cubicBezTo>
                          <a:pt x="3642196" y="3619519"/>
                          <a:pt x="3544331" y="3616003"/>
                          <a:pt x="3413732" y="3618931"/>
                        </a:cubicBezTo>
                        <a:cubicBezTo>
                          <a:pt x="3283134" y="3621859"/>
                          <a:pt x="3001249" y="3609247"/>
                          <a:pt x="2876982" y="3618931"/>
                        </a:cubicBezTo>
                        <a:cubicBezTo>
                          <a:pt x="2752715" y="3628615"/>
                          <a:pt x="2498484" y="3593751"/>
                          <a:pt x="2291924" y="3618931"/>
                        </a:cubicBezTo>
                        <a:cubicBezTo>
                          <a:pt x="2085364" y="3644111"/>
                          <a:pt x="1970592" y="3618402"/>
                          <a:pt x="1851789" y="3618931"/>
                        </a:cubicBezTo>
                        <a:cubicBezTo>
                          <a:pt x="1732986" y="3619460"/>
                          <a:pt x="1540365" y="3574233"/>
                          <a:pt x="1459961" y="3618931"/>
                        </a:cubicBezTo>
                        <a:cubicBezTo>
                          <a:pt x="1379557" y="3663629"/>
                          <a:pt x="1034806" y="3615375"/>
                          <a:pt x="826596" y="3618931"/>
                        </a:cubicBezTo>
                        <a:cubicBezTo>
                          <a:pt x="618386" y="3622487"/>
                          <a:pt x="327618" y="3594894"/>
                          <a:pt x="0" y="3618931"/>
                        </a:cubicBezTo>
                        <a:cubicBezTo>
                          <a:pt x="-39820" y="3485863"/>
                          <a:pt x="36176" y="3278888"/>
                          <a:pt x="0" y="3101941"/>
                        </a:cubicBezTo>
                        <a:cubicBezTo>
                          <a:pt x="-36176" y="2924994"/>
                          <a:pt x="14030" y="2814969"/>
                          <a:pt x="0" y="2657329"/>
                        </a:cubicBezTo>
                        <a:cubicBezTo>
                          <a:pt x="-14030" y="2499689"/>
                          <a:pt x="28578" y="2339631"/>
                          <a:pt x="0" y="2212718"/>
                        </a:cubicBezTo>
                        <a:cubicBezTo>
                          <a:pt x="-28578" y="2085805"/>
                          <a:pt x="34782" y="1745076"/>
                          <a:pt x="0" y="1623349"/>
                        </a:cubicBezTo>
                        <a:cubicBezTo>
                          <a:pt x="-34782" y="1501622"/>
                          <a:pt x="4493" y="1222703"/>
                          <a:pt x="0" y="1106359"/>
                        </a:cubicBezTo>
                        <a:cubicBezTo>
                          <a:pt x="-4493" y="990015"/>
                          <a:pt x="46085" y="724770"/>
                          <a:pt x="0" y="625558"/>
                        </a:cubicBezTo>
                        <a:cubicBezTo>
                          <a:pt x="-46085" y="526346"/>
                          <a:pt x="23283" y="27312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7832439-C2E7-22F8-421A-756AEEDC62EA}"/>
              </a:ext>
            </a:extLst>
          </p:cNvPr>
          <p:cNvSpPr txBox="1"/>
          <p:nvPr/>
        </p:nvSpPr>
        <p:spPr>
          <a:xfrm>
            <a:off x="639354" y="13835597"/>
            <a:ext cx="63205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サバイバルと戦闘の爽快感を体験！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79DA385-661A-0DD8-CEFE-A4C5757AF2E0}"/>
              </a:ext>
            </a:extLst>
          </p:cNvPr>
          <p:cNvSpPr txBox="1"/>
          <p:nvPr/>
        </p:nvSpPr>
        <p:spPr>
          <a:xfrm>
            <a:off x="7850312" y="13829740"/>
            <a:ext cx="485619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船を強化し、新たな大海原へ出航せよ！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5613B3A-0F7F-D598-5623-21C0F755953C}"/>
              </a:ext>
            </a:extLst>
          </p:cNvPr>
          <p:cNvSpPr/>
          <p:nvPr/>
        </p:nvSpPr>
        <p:spPr>
          <a:xfrm>
            <a:off x="221441" y="8829187"/>
            <a:ext cx="7194811" cy="5518592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2515362606">
                  <a:custGeom>
                    <a:avLst/>
                    <a:gdLst>
                      <a:gd name="csX0" fmla="*/ 0 w 4830753"/>
                      <a:gd name="csY0" fmla="*/ 0 h 3618931"/>
                      <a:gd name="csX1" fmla="*/ 633365 w 4830753"/>
                      <a:gd name="csY1" fmla="*/ 0 h 3618931"/>
                      <a:gd name="csX2" fmla="*/ 1266731 w 4830753"/>
                      <a:gd name="csY2" fmla="*/ 0 h 3618931"/>
                      <a:gd name="csX3" fmla="*/ 1658559 w 4830753"/>
                      <a:gd name="csY3" fmla="*/ 0 h 3618931"/>
                      <a:gd name="csX4" fmla="*/ 2098694 w 4830753"/>
                      <a:gd name="csY4" fmla="*/ 0 h 3618931"/>
                      <a:gd name="csX5" fmla="*/ 2490522 w 4830753"/>
                      <a:gd name="csY5" fmla="*/ 0 h 3618931"/>
                      <a:gd name="csX6" fmla="*/ 3075579 w 4830753"/>
                      <a:gd name="csY6" fmla="*/ 0 h 3618931"/>
                      <a:gd name="csX7" fmla="*/ 3612330 w 4830753"/>
                      <a:gd name="csY7" fmla="*/ 0 h 3618931"/>
                      <a:gd name="csX8" fmla="*/ 4100773 w 4830753"/>
                      <a:gd name="csY8" fmla="*/ 0 h 3618931"/>
                      <a:gd name="csX9" fmla="*/ 4830753 w 4830753"/>
                      <a:gd name="csY9" fmla="*/ 0 h 3618931"/>
                      <a:gd name="csX10" fmla="*/ 4830753 w 4830753"/>
                      <a:gd name="csY10" fmla="*/ 516990 h 3618931"/>
                      <a:gd name="csX11" fmla="*/ 4830753 w 4830753"/>
                      <a:gd name="csY11" fmla="*/ 997791 h 3618931"/>
                      <a:gd name="csX12" fmla="*/ 4830753 w 4830753"/>
                      <a:gd name="csY12" fmla="*/ 1550970 h 3618931"/>
                      <a:gd name="csX13" fmla="*/ 4830753 w 4830753"/>
                      <a:gd name="csY13" fmla="*/ 2140339 h 3618931"/>
                      <a:gd name="csX14" fmla="*/ 4830753 w 4830753"/>
                      <a:gd name="csY14" fmla="*/ 2584951 h 3618931"/>
                      <a:gd name="csX15" fmla="*/ 4830753 w 4830753"/>
                      <a:gd name="csY15" fmla="*/ 3029562 h 3618931"/>
                      <a:gd name="csX16" fmla="*/ 4830753 w 4830753"/>
                      <a:gd name="csY16" fmla="*/ 3618931 h 3618931"/>
                      <a:gd name="csX17" fmla="*/ 4438925 w 4830753"/>
                      <a:gd name="csY17" fmla="*/ 3618931 h 3618931"/>
                      <a:gd name="csX18" fmla="*/ 3853867 w 4830753"/>
                      <a:gd name="csY18" fmla="*/ 3618931 h 3618931"/>
                      <a:gd name="csX19" fmla="*/ 3413732 w 4830753"/>
                      <a:gd name="csY19" fmla="*/ 3618931 h 3618931"/>
                      <a:gd name="csX20" fmla="*/ 2876982 w 4830753"/>
                      <a:gd name="csY20" fmla="*/ 3618931 h 3618931"/>
                      <a:gd name="csX21" fmla="*/ 2291924 w 4830753"/>
                      <a:gd name="csY21" fmla="*/ 3618931 h 3618931"/>
                      <a:gd name="csX22" fmla="*/ 1851789 w 4830753"/>
                      <a:gd name="csY22" fmla="*/ 3618931 h 3618931"/>
                      <a:gd name="csX23" fmla="*/ 1459961 w 4830753"/>
                      <a:gd name="csY23" fmla="*/ 3618931 h 3618931"/>
                      <a:gd name="csX24" fmla="*/ 826596 w 4830753"/>
                      <a:gd name="csY24" fmla="*/ 3618931 h 3618931"/>
                      <a:gd name="csX25" fmla="*/ 0 w 4830753"/>
                      <a:gd name="csY25" fmla="*/ 3618931 h 3618931"/>
                      <a:gd name="csX26" fmla="*/ 0 w 4830753"/>
                      <a:gd name="csY26" fmla="*/ 3101941 h 3618931"/>
                      <a:gd name="csX27" fmla="*/ 0 w 4830753"/>
                      <a:gd name="csY27" fmla="*/ 2657329 h 3618931"/>
                      <a:gd name="csX28" fmla="*/ 0 w 4830753"/>
                      <a:gd name="csY28" fmla="*/ 2212718 h 3618931"/>
                      <a:gd name="csX29" fmla="*/ 0 w 4830753"/>
                      <a:gd name="csY29" fmla="*/ 1623349 h 3618931"/>
                      <a:gd name="csX30" fmla="*/ 0 w 4830753"/>
                      <a:gd name="csY30" fmla="*/ 1106359 h 3618931"/>
                      <a:gd name="csX31" fmla="*/ 0 w 4830753"/>
                      <a:gd name="csY31" fmla="*/ 625558 h 3618931"/>
                      <a:gd name="csX32" fmla="*/ 0 w 4830753"/>
                      <a:gd name="csY32" fmla="*/ 0 h 36189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4830753" h="3618931" extrusionOk="0">
                        <a:moveTo>
                          <a:pt x="0" y="0"/>
                        </a:moveTo>
                        <a:cubicBezTo>
                          <a:pt x="251291" y="-49718"/>
                          <a:pt x="330649" y="29286"/>
                          <a:pt x="633365" y="0"/>
                        </a:cubicBezTo>
                        <a:cubicBezTo>
                          <a:pt x="936082" y="-29286"/>
                          <a:pt x="1002179" y="367"/>
                          <a:pt x="1266731" y="0"/>
                        </a:cubicBezTo>
                        <a:cubicBezTo>
                          <a:pt x="1531283" y="-367"/>
                          <a:pt x="1559425" y="31864"/>
                          <a:pt x="1658559" y="0"/>
                        </a:cubicBezTo>
                        <a:cubicBezTo>
                          <a:pt x="1757693" y="-31864"/>
                          <a:pt x="1956536" y="39306"/>
                          <a:pt x="2098694" y="0"/>
                        </a:cubicBezTo>
                        <a:cubicBezTo>
                          <a:pt x="2240852" y="-39306"/>
                          <a:pt x="2329700" y="7228"/>
                          <a:pt x="2490522" y="0"/>
                        </a:cubicBezTo>
                        <a:cubicBezTo>
                          <a:pt x="2651344" y="-7228"/>
                          <a:pt x="2889659" y="40316"/>
                          <a:pt x="3075579" y="0"/>
                        </a:cubicBezTo>
                        <a:cubicBezTo>
                          <a:pt x="3261499" y="-40316"/>
                          <a:pt x="3355872" y="55202"/>
                          <a:pt x="3612330" y="0"/>
                        </a:cubicBezTo>
                        <a:cubicBezTo>
                          <a:pt x="3868788" y="-55202"/>
                          <a:pt x="3872074" y="48164"/>
                          <a:pt x="4100773" y="0"/>
                        </a:cubicBezTo>
                        <a:cubicBezTo>
                          <a:pt x="4329472" y="-48164"/>
                          <a:pt x="4663044" y="79630"/>
                          <a:pt x="4830753" y="0"/>
                        </a:cubicBezTo>
                        <a:cubicBezTo>
                          <a:pt x="4888326" y="110812"/>
                          <a:pt x="4814087" y="345697"/>
                          <a:pt x="4830753" y="516990"/>
                        </a:cubicBezTo>
                        <a:cubicBezTo>
                          <a:pt x="4847419" y="688283"/>
                          <a:pt x="4785089" y="900387"/>
                          <a:pt x="4830753" y="997791"/>
                        </a:cubicBezTo>
                        <a:cubicBezTo>
                          <a:pt x="4876417" y="1095195"/>
                          <a:pt x="4817222" y="1318275"/>
                          <a:pt x="4830753" y="1550970"/>
                        </a:cubicBezTo>
                        <a:cubicBezTo>
                          <a:pt x="4844284" y="1783665"/>
                          <a:pt x="4800545" y="1891819"/>
                          <a:pt x="4830753" y="2140339"/>
                        </a:cubicBezTo>
                        <a:cubicBezTo>
                          <a:pt x="4860961" y="2388859"/>
                          <a:pt x="4814440" y="2381149"/>
                          <a:pt x="4830753" y="2584951"/>
                        </a:cubicBezTo>
                        <a:cubicBezTo>
                          <a:pt x="4847066" y="2788753"/>
                          <a:pt x="4811717" y="2853101"/>
                          <a:pt x="4830753" y="3029562"/>
                        </a:cubicBezTo>
                        <a:cubicBezTo>
                          <a:pt x="4849789" y="3206023"/>
                          <a:pt x="4815132" y="3469375"/>
                          <a:pt x="4830753" y="3618931"/>
                        </a:cubicBezTo>
                        <a:cubicBezTo>
                          <a:pt x="4723625" y="3629509"/>
                          <a:pt x="4520239" y="3573534"/>
                          <a:pt x="4438925" y="3618931"/>
                        </a:cubicBezTo>
                        <a:cubicBezTo>
                          <a:pt x="4357611" y="3664328"/>
                          <a:pt x="4065538" y="3618343"/>
                          <a:pt x="3853867" y="3618931"/>
                        </a:cubicBezTo>
                        <a:cubicBezTo>
                          <a:pt x="3642196" y="3619519"/>
                          <a:pt x="3544331" y="3616003"/>
                          <a:pt x="3413732" y="3618931"/>
                        </a:cubicBezTo>
                        <a:cubicBezTo>
                          <a:pt x="3283134" y="3621859"/>
                          <a:pt x="3001249" y="3609247"/>
                          <a:pt x="2876982" y="3618931"/>
                        </a:cubicBezTo>
                        <a:cubicBezTo>
                          <a:pt x="2752715" y="3628615"/>
                          <a:pt x="2498484" y="3593751"/>
                          <a:pt x="2291924" y="3618931"/>
                        </a:cubicBezTo>
                        <a:cubicBezTo>
                          <a:pt x="2085364" y="3644111"/>
                          <a:pt x="1970592" y="3618402"/>
                          <a:pt x="1851789" y="3618931"/>
                        </a:cubicBezTo>
                        <a:cubicBezTo>
                          <a:pt x="1732986" y="3619460"/>
                          <a:pt x="1540365" y="3574233"/>
                          <a:pt x="1459961" y="3618931"/>
                        </a:cubicBezTo>
                        <a:cubicBezTo>
                          <a:pt x="1379557" y="3663629"/>
                          <a:pt x="1034806" y="3615375"/>
                          <a:pt x="826596" y="3618931"/>
                        </a:cubicBezTo>
                        <a:cubicBezTo>
                          <a:pt x="618386" y="3622487"/>
                          <a:pt x="327618" y="3594894"/>
                          <a:pt x="0" y="3618931"/>
                        </a:cubicBezTo>
                        <a:cubicBezTo>
                          <a:pt x="-39820" y="3485863"/>
                          <a:pt x="36176" y="3278888"/>
                          <a:pt x="0" y="3101941"/>
                        </a:cubicBezTo>
                        <a:cubicBezTo>
                          <a:pt x="-36176" y="2924994"/>
                          <a:pt x="14030" y="2814969"/>
                          <a:pt x="0" y="2657329"/>
                        </a:cubicBezTo>
                        <a:cubicBezTo>
                          <a:pt x="-14030" y="2499689"/>
                          <a:pt x="28578" y="2339631"/>
                          <a:pt x="0" y="2212718"/>
                        </a:cubicBezTo>
                        <a:cubicBezTo>
                          <a:pt x="-28578" y="2085805"/>
                          <a:pt x="34782" y="1745076"/>
                          <a:pt x="0" y="1623349"/>
                        </a:cubicBezTo>
                        <a:cubicBezTo>
                          <a:pt x="-34782" y="1501622"/>
                          <a:pt x="4493" y="1222703"/>
                          <a:pt x="0" y="1106359"/>
                        </a:cubicBezTo>
                        <a:cubicBezTo>
                          <a:pt x="-4493" y="990015"/>
                          <a:pt x="46085" y="724770"/>
                          <a:pt x="0" y="625558"/>
                        </a:cubicBezTo>
                        <a:cubicBezTo>
                          <a:pt x="-46085" y="526346"/>
                          <a:pt x="23283" y="27312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/>
          </a:p>
        </p:txBody>
      </p:sp>
      <p:sp>
        <p:nvSpPr>
          <p:cNvPr id="34" name="矢印: 五方向 33">
            <a:extLst>
              <a:ext uri="{FF2B5EF4-FFF2-40B4-BE49-F238E27FC236}">
                <a16:creationId xmlns:a16="http://schemas.microsoft.com/office/drawing/2014/main" id="{002CBF77-63C3-20CC-F350-02F9ED45BBC1}"/>
              </a:ext>
            </a:extLst>
          </p:cNvPr>
          <p:cNvSpPr/>
          <p:nvPr/>
        </p:nvSpPr>
        <p:spPr>
          <a:xfrm>
            <a:off x="222739" y="8829826"/>
            <a:ext cx="2746603" cy="498618"/>
          </a:xfrm>
          <a:prstGeom prst="homePlate">
            <a:avLst/>
          </a:prstGeom>
          <a:solidFill>
            <a:srgbClr val="2497A6"/>
          </a:solidFill>
          <a:ln>
            <a:solidFill>
              <a:srgbClr val="249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000" b="1">
                <a:ea typeface="游ゴシック"/>
                <a:cs typeface="Calibri" panose="020F0502020204030204"/>
              </a:rPr>
              <a:t>プレイ体験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54A41B0-FB5C-6EA7-453C-1CF3A8478DD0}"/>
              </a:ext>
            </a:extLst>
          </p:cNvPr>
          <p:cNvSpPr/>
          <p:nvPr/>
        </p:nvSpPr>
        <p:spPr>
          <a:xfrm>
            <a:off x="299485" y="13000096"/>
            <a:ext cx="2208341" cy="65036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b="1">
                <a:ea typeface="游ゴシック"/>
                <a:cs typeface="Calibri"/>
              </a:rPr>
              <a:t>小型船で素材集め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7B07ED0-5346-6300-1A02-E433AB46EDC8}"/>
              </a:ext>
            </a:extLst>
          </p:cNvPr>
          <p:cNvSpPr/>
          <p:nvPr/>
        </p:nvSpPr>
        <p:spPr>
          <a:xfrm>
            <a:off x="5026753" y="13000094"/>
            <a:ext cx="2248641" cy="65036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b="1">
                <a:ea typeface="游ゴシック"/>
                <a:cs typeface="Calibri"/>
              </a:rPr>
              <a:t>船ゲット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A58326-49B7-9FE4-B616-639B62D108FD}"/>
              </a:ext>
            </a:extLst>
          </p:cNvPr>
          <p:cNvSpPr/>
          <p:nvPr/>
        </p:nvSpPr>
        <p:spPr>
          <a:xfrm>
            <a:off x="2694404" y="13000093"/>
            <a:ext cx="2188192" cy="6503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b="1">
                <a:ea typeface="游ゴシック"/>
                <a:cs typeface="Calibri"/>
              </a:rPr>
              <a:t>敵船を襲撃！</a:t>
            </a:r>
          </a:p>
        </p:txBody>
      </p:sp>
      <p:sp>
        <p:nvSpPr>
          <p:cNvPr id="45" name="矢印: 五方向 44">
            <a:extLst>
              <a:ext uri="{FF2B5EF4-FFF2-40B4-BE49-F238E27FC236}">
                <a16:creationId xmlns:a16="http://schemas.microsoft.com/office/drawing/2014/main" id="{61A8814E-5C94-72E9-A148-D5DEF0AA33FF}"/>
              </a:ext>
            </a:extLst>
          </p:cNvPr>
          <p:cNvSpPr/>
          <p:nvPr/>
        </p:nvSpPr>
        <p:spPr>
          <a:xfrm>
            <a:off x="7615191" y="9574396"/>
            <a:ext cx="1827712" cy="416360"/>
          </a:xfrm>
          <a:prstGeom prst="homePlat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400" b="1">
                <a:ea typeface="游ゴシック"/>
                <a:cs typeface="Calibri" panose="020F0502020204030204"/>
              </a:rPr>
              <a:t>改造＆拡張</a:t>
            </a: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4A9DBF12-F6AC-2850-DAB6-81639AF778EE}"/>
              </a:ext>
            </a:extLst>
          </p:cNvPr>
          <p:cNvSpPr/>
          <p:nvPr/>
        </p:nvSpPr>
        <p:spPr>
          <a:xfrm>
            <a:off x="7617453" y="10332333"/>
            <a:ext cx="1827712" cy="416360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000" b="1">
                <a:ea typeface="游ゴシック"/>
                <a:cs typeface="Calibri" panose="020F0502020204030204"/>
              </a:rPr>
              <a:t>大型船ゲット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36486F56-C5E8-5A7B-29B4-9038C1F6B4C5}"/>
              </a:ext>
            </a:extLst>
          </p:cNvPr>
          <p:cNvSpPr/>
          <p:nvPr/>
        </p:nvSpPr>
        <p:spPr>
          <a:xfrm>
            <a:off x="7622177" y="11090274"/>
            <a:ext cx="1827712" cy="416360"/>
          </a:xfrm>
          <a:prstGeom prst="homePlate">
            <a:avLst/>
          </a:prstGeom>
          <a:solidFill>
            <a:srgbClr val="009479"/>
          </a:solidFill>
          <a:ln>
            <a:solidFill>
              <a:srgbClr val="009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000" b="1">
                <a:ea typeface="游ゴシック"/>
                <a:cs typeface="Calibri" panose="020F0502020204030204"/>
              </a:rPr>
              <a:t>さらに大海へ</a:t>
            </a: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AEB3F960-9FF4-00F0-AFDF-E9D58E62FE71}"/>
              </a:ext>
            </a:extLst>
          </p:cNvPr>
          <p:cNvSpPr/>
          <p:nvPr/>
        </p:nvSpPr>
        <p:spPr>
          <a:xfrm>
            <a:off x="7597729" y="8849977"/>
            <a:ext cx="2746603" cy="498618"/>
          </a:xfrm>
          <a:prstGeom prst="homePlate">
            <a:avLst/>
          </a:prstGeom>
          <a:solidFill>
            <a:srgbClr val="2497A6"/>
          </a:solidFill>
          <a:ln>
            <a:solidFill>
              <a:srgbClr val="249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000" b="1">
                <a:ea typeface="游ゴシック"/>
                <a:cs typeface="Calibri" panose="020F0502020204030204"/>
              </a:rPr>
              <a:t>成長イメージ</a:t>
            </a:r>
          </a:p>
        </p:txBody>
      </p:sp>
      <p:pic>
        <p:nvPicPr>
          <p:cNvPr id="8" name="図 7" descr="海の中にあるプール&#10;&#10;AI 生成コンテンツは間違っている可能性があります。">
            <a:extLst>
              <a:ext uri="{FF2B5EF4-FFF2-40B4-BE49-F238E27FC236}">
                <a16:creationId xmlns:a16="http://schemas.microsoft.com/office/drawing/2014/main" id="{260A386D-CD82-D45A-4D58-D1D301E02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47" y="4064556"/>
            <a:ext cx="3830108" cy="2805387"/>
          </a:xfrm>
          <a:prstGeom prst="rect">
            <a:avLst/>
          </a:prstGeom>
        </p:spPr>
      </p:pic>
      <p:pic>
        <p:nvPicPr>
          <p:cNvPr id="16" name="図 15" descr="水, 屋外, ブルー, いかだ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B6B6A155-B9BC-6DE1-4D64-8E4D6AB82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887" y="4055629"/>
            <a:ext cx="3822721" cy="2823241"/>
          </a:xfrm>
          <a:prstGeom prst="rect">
            <a:avLst/>
          </a:prstGeom>
        </p:spPr>
      </p:pic>
      <p:sp>
        <p:nvSpPr>
          <p:cNvPr id="6" name="矢印: 山形 5">
            <a:extLst>
              <a:ext uri="{FF2B5EF4-FFF2-40B4-BE49-F238E27FC236}">
                <a16:creationId xmlns:a16="http://schemas.microsoft.com/office/drawing/2014/main" id="{C53EBB55-D900-9A0F-0932-5EC28E065423}"/>
              </a:ext>
            </a:extLst>
          </p:cNvPr>
          <p:cNvSpPr/>
          <p:nvPr/>
        </p:nvSpPr>
        <p:spPr>
          <a:xfrm>
            <a:off x="3904084" y="4892350"/>
            <a:ext cx="901559" cy="1158968"/>
          </a:xfrm>
          <a:prstGeom prst="chevron">
            <a:avLst/>
          </a:prstGeom>
          <a:solidFill>
            <a:srgbClr val="FAC657"/>
          </a:solidFill>
          <a:ln>
            <a:solidFill>
              <a:srgbClr val="FAC6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schemeClr val="tx1"/>
              </a:solidFill>
            </a:endParaRPr>
          </a:p>
        </p:txBody>
      </p:sp>
      <p:pic>
        <p:nvPicPr>
          <p:cNvPr id="17" name="図 16" descr="プールに浮かんでいる船&#10;&#10;AI 生成コンテンツは間違っている可能性があります。">
            <a:extLst>
              <a:ext uri="{FF2B5EF4-FFF2-40B4-BE49-F238E27FC236}">
                <a16:creationId xmlns:a16="http://schemas.microsoft.com/office/drawing/2014/main" id="{3AD74488-CD5A-5403-4092-A44ABB0E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119" y="4085358"/>
            <a:ext cx="3802559" cy="2800648"/>
          </a:xfrm>
          <a:prstGeom prst="rect">
            <a:avLst/>
          </a:prstGeom>
        </p:spPr>
      </p:pic>
      <p:sp>
        <p:nvSpPr>
          <p:cNvPr id="57" name="矢印: 山形 56">
            <a:extLst>
              <a:ext uri="{FF2B5EF4-FFF2-40B4-BE49-F238E27FC236}">
                <a16:creationId xmlns:a16="http://schemas.microsoft.com/office/drawing/2014/main" id="{A375D556-E816-8D2B-7A1B-5770FF3F87FA}"/>
              </a:ext>
            </a:extLst>
          </p:cNvPr>
          <p:cNvSpPr/>
          <p:nvPr/>
        </p:nvSpPr>
        <p:spPr>
          <a:xfrm>
            <a:off x="8402907" y="4892350"/>
            <a:ext cx="901559" cy="1158968"/>
          </a:xfrm>
          <a:prstGeom prst="chevron">
            <a:avLst/>
          </a:prstGeom>
          <a:solidFill>
            <a:srgbClr val="FAC657"/>
          </a:solidFill>
          <a:ln>
            <a:solidFill>
              <a:srgbClr val="FAC6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schemeClr val="tx1"/>
              </a:solidFill>
            </a:endParaRPr>
          </a:p>
        </p:txBody>
      </p:sp>
      <p:pic>
        <p:nvPicPr>
          <p:cNvPr id="23" name="図 22" descr="男, 座る, ケーキ, 覆い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7FE01725-BF19-39BD-08B6-F320A2BC1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9071042" y="508805"/>
            <a:ext cx="3813715" cy="3461837"/>
          </a:xfrm>
          <a:prstGeom prst="rect">
            <a:avLst/>
          </a:prstGeom>
        </p:spPr>
      </p:pic>
      <p:pic>
        <p:nvPicPr>
          <p:cNvPr id="22" name="図 21" descr="プールの中にいる女性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8380C9-ED68-8340-C9E9-F6E0C2143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09" y="9583770"/>
            <a:ext cx="2251663" cy="339085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A16E175-E5BD-851C-691C-546D21297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0282" y="9584169"/>
            <a:ext cx="2212346" cy="3390054"/>
          </a:xfrm>
          <a:prstGeom prst="rect">
            <a:avLst/>
          </a:prstGeom>
        </p:spPr>
      </p:pic>
      <p:sp>
        <p:nvSpPr>
          <p:cNvPr id="62" name="矢印: 山形 61">
            <a:extLst>
              <a:ext uri="{FF2B5EF4-FFF2-40B4-BE49-F238E27FC236}">
                <a16:creationId xmlns:a16="http://schemas.microsoft.com/office/drawing/2014/main" id="{6A8346E8-62D1-932B-8B4F-030062E6DDCF}"/>
              </a:ext>
            </a:extLst>
          </p:cNvPr>
          <p:cNvSpPr/>
          <p:nvPr/>
        </p:nvSpPr>
        <p:spPr>
          <a:xfrm>
            <a:off x="2415402" y="10834551"/>
            <a:ext cx="458013" cy="734459"/>
          </a:xfrm>
          <a:prstGeom prst="chevron">
            <a:avLst/>
          </a:prstGeom>
          <a:solidFill>
            <a:srgbClr val="FAC657"/>
          </a:solidFill>
          <a:ln>
            <a:solidFill>
              <a:srgbClr val="FAC6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schemeClr val="tx1"/>
              </a:solidFill>
            </a:endParaRPr>
          </a:p>
        </p:txBody>
      </p:sp>
      <p:pic>
        <p:nvPicPr>
          <p:cNvPr id="25" name="図 24" descr="プールに浮かんでいる船&#10;&#10;AI 生成コンテンツは間違っている可能性があります。">
            <a:extLst>
              <a:ext uri="{FF2B5EF4-FFF2-40B4-BE49-F238E27FC236}">
                <a16:creationId xmlns:a16="http://schemas.microsoft.com/office/drawing/2014/main" id="{D865170B-FEF9-68A2-D121-6A2205A5F2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888" y="9582773"/>
            <a:ext cx="2251364" cy="3392846"/>
          </a:xfrm>
          <a:prstGeom prst="rect">
            <a:avLst/>
          </a:prstGeom>
        </p:spPr>
      </p:pic>
      <p:sp>
        <p:nvSpPr>
          <p:cNvPr id="3" name="矢印: 山形 2">
            <a:extLst>
              <a:ext uri="{FF2B5EF4-FFF2-40B4-BE49-F238E27FC236}">
                <a16:creationId xmlns:a16="http://schemas.microsoft.com/office/drawing/2014/main" id="{999F20BD-6751-92BF-FEE7-63F7F8300E0D}"/>
              </a:ext>
            </a:extLst>
          </p:cNvPr>
          <p:cNvSpPr/>
          <p:nvPr/>
        </p:nvSpPr>
        <p:spPr>
          <a:xfrm>
            <a:off x="4732912" y="10814399"/>
            <a:ext cx="458013" cy="734459"/>
          </a:xfrm>
          <a:prstGeom prst="chevron">
            <a:avLst/>
          </a:prstGeom>
          <a:solidFill>
            <a:srgbClr val="FAC657"/>
          </a:solidFill>
          <a:ln>
            <a:solidFill>
              <a:srgbClr val="FAC6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13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24E0-2719-A15E-A8FD-6D0A3FF7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D05ACE-CFF3-CDB0-2066-0CA72368D62A}"/>
              </a:ext>
            </a:extLst>
          </p:cNvPr>
          <p:cNvSpPr/>
          <p:nvPr/>
        </p:nvSpPr>
        <p:spPr>
          <a:xfrm>
            <a:off x="257539" y="2423601"/>
            <a:ext cx="12737518" cy="32202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EC6FF4E9-5107-B26C-1D4A-2ECF16696D26}"/>
              </a:ext>
            </a:extLst>
          </p:cNvPr>
          <p:cNvSpPr/>
          <p:nvPr/>
        </p:nvSpPr>
        <p:spPr>
          <a:xfrm>
            <a:off x="-6569" y="691526"/>
            <a:ext cx="5116938" cy="849466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 b="1">
                <a:ea typeface="游ゴシック"/>
                <a:cs typeface="Calibri" panose="020F0502020204030204"/>
              </a:rPr>
              <a:t>マネタイズ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E053A1-024F-89AF-0D2C-AF6D10E30C1B}"/>
              </a:ext>
            </a:extLst>
          </p:cNvPr>
          <p:cNvSpPr/>
          <p:nvPr/>
        </p:nvSpPr>
        <p:spPr>
          <a:xfrm>
            <a:off x="-74" y="-8269"/>
            <a:ext cx="13257554" cy="53858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C47B19-1515-79A5-B582-6BABA32B3387}"/>
              </a:ext>
            </a:extLst>
          </p:cNvPr>
          <p:cNvSpPr txBox="1"/>
          <p:nvPr/>
        </p:nvSpPr>
        <p:spPr>
          <a:xfrm>
            <a:off x="-15634" y="1788072"/>
            <a:ext cx="45349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1　船カスタム系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B3B7A2-96F8-BAB1-EF58-B4D3EBDB4E40}"/>
              </a:ext>
            </a:extLst>
          </p:cNvPr>
          <p:cNvSpPr txBox="1"/>
          <p:nvPr/>
        </p:nvSpPr>
        <p:spPr>
          <a:xfrm>
            <a:off x="494560" y="2473079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スキン系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1A7E25C-F112-F58B-E6E6-5DCB164BFE0B}"/>
              </a:ext>
            </a:extLst>
          </p:cNvPr>
          <p:cNvSpPr txBox="1"/>
          <p:nvPr/>
        </p:nvSpPr>
        <p:spPr>
          <a:xfrm>
            <a:off x="6321138" y="960698"/>
            <a:ext cx="67346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32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※上からゲーム性を壊しにくい課金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6E2E1D3-C5CD-CBAB-29DA-C7C2ABBC3F0E}"/>
              </a:ext>
            </a:extLst>
          </p:cNvPr>
          <p:cNvSpPr txBox="1"/>
          <p:nvPr/>
        </p:nvSpPr>
        <p:spPr>
          <a:xfrm>
            <a:off x="4005986" y="2473078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帆のデザイン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F1497C-E37D-E4DF-559A-B4F879CFD898}"/>
              </a:ext>
            </a:extLst>
          </p:cNvPr>
          <p:cNvSpPr txBox="1"/>
          <p:nvPr/>
        </p:nvSpPr>
        <p:spPr>
          <a:xfrm>
            <a:off x="8304303" y="2473078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クルー衣装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0B639A6-FF4E-C14C-2888-C6F64B27BE7D}"/>
              </a:ext>
            </a:extLst>
          </p:cNvPr>
          <p:cNvSpPr txBox="1"/>
          <p:nvPr/>
        </p:nvSpPr>
        <p:spPr>
          <a:xfrm>
            <a:off x="494529" y="3078475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船内装飾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F3ED10-5D68-EE7A-403C-6A6A02A56BF5}"/>
              </a:ext>
            </a:extLst>
          </p:cNvPr>
          <p:cNvSpPr txBox="1"/>
          <p:nvPr/>
        </p:nvSpPr>
        <p:spPr>
          <a:xfrm>
            <a:off x="4571049" y="1887863"/>
            <a:ext cx="35133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期待値（</a:t>
            </a:r>
            <a:r>
              <a:rPr lang="ja-JP" altLang="en-US" sz="2800" b="1">
                <a:solidFill>
                  <a:srgbClr val="FF0000"/>
                </a:solidFill>
                <a:ea typeface="游ゴシック"/>
                <a:cs typeface="Calibri" panose="020F0502020204030204"/>
              </a:rPr>
              <a:t>高</a:t>
            </a:r>
            <a:r>
              <a:rPr lang="ja-JP" altLang="en-US" sz="2800" b="1">
                <a:ea typeface="游ゴシック"/>
                <a:cs typeface="Calibri" panose="020F0502020204030204"/>
              </a:rPr>
              <a:t>）</a:t>
            </a:r>
            <a:endParaRPr lang="ja-JP" altLang="en-US" sz="2400" b="1">
              <a:ea typeface="游ゴシック"/>
              <a:cs typeface="Calibri" panose="020F0502020204030204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14CC5D8-A41E-789B-079B-520288D518BA}"/>
              </a:ext>
            </a:extLst>
          </p:cNvPr>
          <p:cNvSpPr txBox="1"/>
          <p:nvPr/>
        </p:nvSpPr>
        <p:spPr>
          <a:xfrm>
            <a:off x="266891" y="3664800"/>
            <a:ext cx="45349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売れる理由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585211F-C36F-9D59-6F2A-77F2B709B647}"/>
              </a:ext>
            </a:extLst>
          </p:cNvPr>
          <p:cNvSpPr txBox="1"/>
          <p:nvPr/>
        </p:nvSpPr>
        <p:spPr>
          <a:xfrm>
            <a:off x="494529" y="4551606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ゲームバランスを壊しにくい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EE58B40-52D0-E20C-D9B1-1388E8BA5C0C}"/>
              </a:ext>
            </a:extLst>
          </p:cNvPr>
          <p:cNvSpPr txBox="1"/>
          <p:nvPr/>
        </p:nvSpPr>
        <p:spPr>
          <a:xfrm>
            <a:off x="5297558" y="4551605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長期運営との相性が良い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443E24B-5CE1-2B2F-0EDF-653DF7B99C84}"/>
              </a:ext>
            </a:extLst>
          </p:cNvPr>
          <p:cNvSpPr txBox="1"/>
          <p:nvPr/>
        </p:nvSpPr>
        <p:spPr>
          <a:xfrm>
            <a:off x="9535272" y="4551604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クジラ課金が期待できる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26E91D2-6B43-500F-23E8-E33D819A2C14}"/>
              </a:ext>
            </a:extLst>
          </p:cNvPr>
          <p:cNvSpPr txBox="1"/>
          <p:nvPr/>
        </p:nvSpPr>
        <p:spPr>
          <a:xfrm>
            <a:off x="272268" y="5237721"/>
            <a:ext cx="77916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b="1">
                <a:ea typeface="游ゴシック"/>
                <a:cs typeface="Calibri" panose="020F0502020204030204"/>
              </a:rPr>
              <a:t>※追記　　クジラ課金　＝　数万円～数十万円以上/月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D3C35D0-B990-E55E-CB0D-809857CB3A38}"/>
              </a:ext>
            </a:extLst>
          </p:cNvPr>
          <p:cNvSpPr txBox="1"/>
          <p:nvPr/>
        </p:nvSpPr>
        <p:spPr>
          <a:xfrm>
            <a:off x="4541" y="6046022"/>
            <a:ext cx="95195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2　成長加速系</a:t>
            </a:r>
            <a:r>
              <a:rPr lang="ja-JP" altLang="en-US" sz="4000" b="1">
                <a:solidFill>
                  <a:srgbClr val="002060"/>
                </a:solidFill>
                <a:ea typeface="游ゴシック"/>
                <a:cs typeface="Calibri" panose="020F0502020204030204"/>
              </a:rPr>
              <a:t>　（時短・快適）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77914B7-B90D-EDC2-B9C4-5E503B129E6B}"/>
              </a:ext>
            </a:extLst>
          </p:cNvPr>
          <p:cNvSpPr txBox="1"/>
          <p:nvPr/>
        </p:nvSpPr>
        <p:spPr>
          <a:xfrm>
            <a:off x="7375959" y="6206353"/>
            <a:ext cx="35133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期待値（</a:t>
            </a:r>
            <a:r>
              <a:rPr lang="ja-JP" altLang="en-US" sz="2800" b="1">
                <a:solidFill>
                  <a:srgbClr val="92D050"/>
                </a:solidFill>
                <a:ea typeface="游ゴシック"/>
                <a:cs typeface="Calibri" panose="020F0502020204030204"/>
              </a:rPr>
              <a:t>中</a:t>
            </a:r>
            <a:r>
              <a:rPr lang="ja-JP" altLang="en-US" sz="2800" b="1">
                <a:ea typeface="游ゴシック"/>
                <a:cs typeface="Calibri" panose="020F0502020204030204"/>
              </a:rPr>
              <a:t>）</a:t>
            </a:r>
            <a:endParaRPr lang="ja-JP" altLang="en-US" sz="2400" b="1">
              <a:ea typeface="游ゴシック"/>
              <a:cs typeface="Calibri" panose="020F0502020204030204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26720F5-8F2E-B66E-154E-9A774B8657A4}"/>
              </a:ext>
            </a:extLst>
          </p:cNvPr>
          <p:cNvSpPr txBox="1"/>
          <p:nvPr/>
        </p:nvSpPr>
        <p:spPr>
          <a:xfrm>
            <a:off x="494529" y="6862770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建造時間短縮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970CAFB-65C5-5903-40C3-4C7F23E5C4B5}"/>
              </a:ext>
            </a:extLst>
          </p:cNvPr>
          <p:cNvSpPr txBox="1"/>
          <p:nvPr/>
        </p:nvSpPr>
        <p:spPr>
          <a:xfrm>
            <a:off x="4005986" y="6862770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自動回収システム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5EBE6A1-CED6-9E99-08D4-3E748F97F195}"/>
              </a:ext>
            </a:extLst>
          </p:cNvPr>
          <p:cNvSpPr txBox="1"/>
          <p:nvPr/>
        </p:nvSpPr>
        <p:spPr>
          <a:xfrm>
            <a:off x="8304494" y="6862770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倉庫拡張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87E7081-20ED-30C8-A327-58EA52FF041C}"/>
              </a:ext>
            </a:extLst>
          </p:cNvPr>
          <p:cNvSpPr txBox="1"/>
          <p:nvPr/>
        </p:nvSpPr>
        <p:spPr>
          <a:xfrm>
            <a:off x="494498" y="7488346"/>
            <a:ext cx="40380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放置効率ブースト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5228945-5036-4E0A-7F5C-8A2A4C18CACF}"/>
              </a:ext>
            </a:extLst>
          </p:cNvPr>
          <p:cNvSpPr txBox="1"/>
          <p:nvPr/>
        </p:nvSpPr>
        <p:spPr>
          <a:xfrm>
            <a:off x="266871" y="8115029"/>
            <a:ext cx="45349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売れる理由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A9B2216-5A69-4160-6A3B-CC506EC81893}"/>
              </a:ext>
            </a:extLst>
          </p:cNvPr>
          <p:cNvSpPr txBox="1"/>
          <p:nvPr/>
        </p:nvSpPr>
        <p:spPr>
          <a:xfrm>
            <a:off x="496239" y="9001836"/>
            <a:ext cx="99978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 dirty="0">
                <a:ea typeface="游ゴシック"/>
                <a:cs typeface="Calibri" panose="020F0502020204030204"/>
              </a:rPr>
              <a:t>・　ゲームを快適にプレイ可能　　・　初心者や中級者を狙い</a:t>
            </a:r>
            <a:endParaRPr lang="ja-JP" altLang="en-US" sz="2000" b="1" dirty="0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7DFBBA0-BF29-A88E-C1D2-5E21503AA846}"/>
              </a:ext>
            </a:extLst>
          </p:cNvPr>
          <p:cNvSpPr txBox="1"/>
          <p:nvPr/>
        </p:nvSpPr>
        <p:spPr>
          <a:xfrm>
            <a:off x="272248" y="9467115"/>
            <a:ext cx="57534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b="1">
                <a:ea typeface="游ゴシック"/>
                <a:cs typeface="Calibri" panose="020F0502020204030204"/>
              </a:rPr>
              <a:t>※追記　　調整をしっかりと行う事　　</a:t>
            </a:r>
            <a:endParaRPr lang="ja-JP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8887DB3-7009-6146-904E-434D74A5F9F3}"/>
              </a:ext>
            </a:extLst>
          </p:cNvPr>
          <p:cNvSpPr txBox="1"/>
          <p:nvPr/>
        </p:nvSpPr>
        <p:spPr>
          <a:xfrm>
            <a:off x="-15648" y="10536613"/>
            <a:ext cx="853070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3　編成強化系</a:t>
            </a:r>
            <a:r>
              <a:rPr lang="ja-JP" altLang="en-US" sz="4000" b="1">
                <a:solidFill>
                  <a:srgbClr val="002060"/>
                </a:solidFill>
                <a:ea typeface="游ゴシック"/>
                <a:cs typeface="Calibri" panose="020F0502020204030204"/>
              </a:rPr>
              <a:t>　（時短・快適）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B009980-3B03-4203-9A58-9B61E2821A7C}"/>
              </a:ext>
            </a:extLst>
          </p:cNvPr>
          <p:cNvSpPr txBox="1"/>
          <p:nvPr/>
        </p:nvSpPr>
        <p:spPr>
          <a:xfrm>
            <a:off x="7375601" y="10696944"/>
            <a:ext cx="35133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 panose="020F0502020204030204"/>
              </a:rPr>
              <a:t>期待値（</a:t>
            </a:r>
            <a:r>
              <a:rPr lang="ja-JP" altLang="en-US" sz="2800" b="1">
                <a:solidFill>
                  <a:srgbClr val="92D050"/>
                </a:solidFill>
                <a:ea typeface="游ゴシック"/>
                <a:cs typeface="Calibri" panose="020F0502020204030204"/>
              </a:rPr>
              <a:t>中</a:t>
            </a:r>
            <a:r>
              <a:rPr lang="ja-JP" altLang="en-US" sz="2800" b="1">
                <a:ea typeface="游ゴシック"/>
                <a:cs typeface="Calibri" panose="020F0502020204030204"/>
              </a:rPr>
              <a:t>）</a:t>
            </a:r>
            <a:endParaRPr lang="ja-JP" altLang="en-US" sz="2400" b="1">
              <a:ea typeface="游ゴシック"/>
              <a:cs typeface="Calibri" panose="020F0502020204030204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8FEBD54-4EFB-B684-0196-C11D3403E7FD}"/>
              </a:ext>
            </a:extLst>
          </p:cNvPr>
          <p:cNvSpPr txBox="1"/>
          <p:nvPr/>
        </p:nvSpPr>
        <p:spPr>
          <a:xfrm>
            <a:off x="494498" y="11371764"/>
            <a:ext cx="35133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レア船設計図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C3581E1-AB0F-7D25-3138-311050006CA1}"/>
              </a:ext>
            </a:extLst>
          </p:cNvPr>
          <p:cNvSpPr txBox="1"/>
          <p:nvPr/>
        </p:nvSpPr>
        <p:spPr>
          <a:xfrm>
            <a:off x="4005930" y="11371764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特殊クルー解放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2F719A1-8C39-EE65-C4CE-9711765A1E44}"/>
              </a:ext>
            </a:extLst>
          </p:cNvPr>
          <p:cNvSpPr txBox="1"/>
          <p:nvPr/>
        </p:nvSpPr>
        <p:spPr>
          <a:xfrm>
            <a:off x="8304248" y="11371764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武装アンロック　（課金）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5AEA730-48D1-97F3-2FDF-90A28266FCD3}"/>
              </a:ext>
            </a:extLst>
          </p:cNvPr>
          <p:cNvSpPr txBox="1"/>
          <p:nvPr/>
        </p:nvSpPr>
        <p:spPr>
          <a:xfrm>
            <a:off x="266851" y="12126634"/>
            <a:ext cx="45349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 u="sng">
                <a:solidFill>
                  <a:srgbClr val="002060"/>
                </a:solidFill>
                <a:ea typeface="游ゴシック"/>
                <a:cs typeface="Calibri" panose="020F0502020204030204"/>
              </a:rPr>
              <a:t>理想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F8AB089-E6F5-4775-C023-4BDD27E227A1}"/>
              </a:ext>
            </a:extLst>
          </p:cNvPr>
          <p:cNvSpPr txBox="1"/>
          <p:nvPr/>
        </p:nvSpPr>
        <p:spPr>
          <a:xfrm>
            <a:off x="454105" y="13073980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無課金でも勝てる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6032550-E23F-B9DB-2ED6-7401712284A5}"/>
              </a:ext>
            </a:extLst>
          </p:cNvPr>
          <p:cNvSpPr txBox="1"/>
          <p:nvPr/>
        </p:nvSpPr>
        <p:spPr>
          <a:xfrm>
            <a:off x="4005901" y="13073980"/>
            <a:ext cx="4078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游ゴシック"/>
                <a:cs typeface="Calibri" panose="020F0502020204030204"/>
              </a:rPr>
              <a:t>・　課金すると楽になる</a:t>
            </a:r>
            <a:endParaRPr lang="ja-JP" altLang="en-US" sz="2000" b="1">
              <a:ea typeface="游ゴシック" panose="020B0400000000000000" pitchFamily="34" charset="-128"/>
              <a:cs typeface="Calibri" panose="020F0502020204030204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88402FE-A240-8C65-E201-870D83AFE58C}"/>
              </a:ext>
            </a:extLst>
          </p:cNvPr>
          <p:cNvSpPr txBox="1"/>
          <p:nvPr/>
        </p:nvSpPr>
        <p:spPr>
          <a:xfrm>
            <a:off x="272228" y="13699554"/>
            <a:ext cx="74082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b="1">
                <a:ea typeface="游ゴシック"/>
                <a:cs typeface="Calibri" panose="020F0502020204030204"/>
              </a:rPr>
              <a:t>※追記　　Pay to Win  をさせないための調節が必須　</a:t>
            </a:r>
            <a:endParaRPr lang="ja-JP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6C9F402-7970-0659-436A-68FEE3AC47E4}"/>
              </a:ext>
            </a:extLst>
          </p:cNvPr>
          <p:cNvSpPr txBox="1"/>
          <p:nvPr/>
        </p:nvSpPr>
        <p:spPr>
          <a:xfrm>
            <a:off x="123046" y="5394875"/>
            <a:ext cx="107705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ea typeface="游ゴシック"/>
                <a:cs typeface="Calibri"/>
              </a:rPr>
              <a:t>＿＿＿＿＿＿＿＿＿＿＿＿＿＿＿＿</a:t>
            </a:r>
            <a:r>
              <a:rPr lang="ja-JP" altLang="en-US" sz="3600" b="1">
                <a:ea typeface="游ゴシック"/>
                <a:cs typeface="Calibri"/>
              </a:rPr>
              <a:t>＿＿＿＿＿＿</a:t>
            </a:r>
            <a:endParaRPr lang="ja-JP" sz="3600">
              <a:ea typeface="游ゴシック"/>
              <a:cs typeface="Calibri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AFAC68D6-12EF-5405-37A7-412725EAEAE1}"/>
              </a:ext>
            </a:extLst>
          </p:cNvPr>
          <p:cNvSpPr txBox="1"/>
          <p:nvPr/>
        </p:nvSpPr>
        <p:spPr>
          <a:xfrm>
            <a:off x="275446" y="9760678"/>
            <a:ext cx="107705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3600" b="1">
                <a:ea typeface="游ゴシック"/>
                <a:cs typeface="Calibri"/>
              </a:rPr>
              <a:t>＿＿＿＿＿＿＿＿＿＿＿＿＿＿＿＿</a:t>
            </a:r>
            <a:r>
              <a:rPr lang="ja-JP" altLang="en-US" sz="3600" b="1">
                <a:ea typeface="游ゴシック"/>
                <a:cs typeface="Calibri"/>
              </a:rPr>
              <a:t>＿＿＿＿＿＿</a:t>
            </a:r>
            <a:endParaRPr lang="ja-JP" sz="3600">
              <a:ea typeface="游ゴシック"/>
              <a:cs typeface="Calibri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91F415-8867-3FCE-F95E-CCF86B0BC8B0}"/>
              </a:ext>
            </a:extLst>
          </p:cNvPr>
          <p:cNvSpPr/>
          <p:nvPr/>
        </p:nvSpPr>
        <p:spPr>
          <a:xfrm>
            <a:off x="257275" y="6711505"/>
            <a:ext cx="12737518" cy="32202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4EBB29-639C-A8A8-EC9F-1CB4C4FC5C4C}"/>
              </a:ext>
            </a:extLst>
          </p:cNvPr>
          <p:cNvSpPr/>
          <p:nvPr/>
        </p:nvSpPr>
        <p:spPr>
          <a:xfrm>
            <a:off x="256999" y="11201841"/>
            <a:ext cx="12737518" cy="32202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710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452</Words>
  <Application>Microsoft Office PowerPoint</Application>
  <PresentationFormat>ユーザー設定</PresentationFormat>
  <Paragraphs>77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吉廣　貴仁</cp:lastModifiedBy>
  <cp:revision>335</cp:revision>
  <dcterms:created xsi:type="dcterms:W3CDTF">2013-07-15T20:26:40Z</dcterms:created>
  <dcterms:modified xsi:type="dcterms:W3CDTF">2026-03-05T01:57:12Z</dcterms:modified>
</cp:coreProperties>
</file>